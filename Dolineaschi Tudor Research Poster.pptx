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3" r:id="rId2"/>
  </p:sldMasterIdLst>
  <p:notesMasterIdLst>
    <p:notesMasterId r:id="rId4"/>
  </p:notesMasterIdLst>
  <p:sldIdLst>
    <p:sldId id="257" r:id="rId3"/>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1631"/>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73"/>
    <p:restoredTop sz="95611" autoAdjust="0"/>
  </p:normalViewPr>
  <p:slideViewPr>
    <p:cSldViewPr snapToGrid="0">
      <p:cViewPr varScale="1">
        <p:scale>
          <a:sx n="22" d="100"/>
          <a:sy n="22" d="100"/>
        </p:scale>
        <p:origin x="146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CADFF2-B417-41A2-8B4F-57B66A4E1ABD}" type="datetimeFigureOut">
              <a:rPr lang="en-US" smtClean="0"/>
              <a:t>6/27/2024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2F4502-D2C1-4BF4-A94D-D6C6E5CB1DA6}" type="slidenum">
              <a:rPr lang="en-US" smtClean="0"/>
              <a:t>‹#›</a:t>
            </a:fld>
            <a:endParaRPr lang="en-US"/>
          </a:p>
        </p:txBody>
      </p:sp>
    </p:spTree>
    <p:extLst>
      <p:ext uri="{BB962C8B-B14F-4D97-AF65-F5344CB8AC3E}">
        <p14:creationId xmlns:p14="http://schemas.microsoft.com/office/powerpoint/2010/main" val="2391503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5"/>
          </p:nvPr>
        </p:nvSpPr>
        <p:spPr/>
        <p:txBody>
          <a:bodyPr/>
          <a:lstStyle/>
          <a:p>
            <a:fld id="{A22F4502-D2C1-4BF4-A94D-D6C6E5CB1DA6}" type="slidenum">
              <a:rPr lang="en-US" smtClean="0"/>
              <a:t>1</a:t>
            </a:fld>
            <a:endParaRPr lang="en-US"/>
          </a:p>
        </p:txBody>
      </p:sp>
    </p:spTree>
    <p:extLst>
      <p:ext uri="{BB962C8B-B14F-4D97-AF65-F5344CB8AC3E}">
        <p14:creationId xmlns:p14="http://schemas.microsoft.com/office/powerpoint/2010/main" val="222097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E00E4B-295B-3643-81B9-D886B240B44E}"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32849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0E4B-295B-3643-81B9-D886B240B44E}"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1756285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E00E4B-295B-3643-81B9-D886B240B44E}"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3618664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E00E4B-295B-3643-81B9-D886B240B44E}"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1090547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E00E4B-295B-3643-81B9-D886B240B44E}" type="datetimeFigureOut">
              <a:rPr lang="en-US" smtClean="0"/>
              <a:t>6/27/2024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1044180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E00E4B-295B-3643-81B9-D886B240B44E}" type="datetimeFigureOut">
              <a:rPr lang="en-US" smtClean="0"/>
              <a:t>6/27/2024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2385373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E00E4B-295B-3643-81B9-D886B240B44E}" type="datetimeFigureOut">
              <a:rPr lang="en-US" smtClean="0"/>
              <a:t>6/27/2024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3722537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DE00E4B-295B-3643-81B9-D886B240B44E}"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2685840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DE00E4B-295B-3643-81B9-D886B240B44E}" type="datetimeFigureOut">
              <a:rPr lang="en-US" smtClean="0"/>
              <a:t>6/27/2024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1401744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0E4B-295B-3643-81B9-D886B240B44E}"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681459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0E4B-295B-3643-81B9-D886B240B44E}" type="datetimeFigureOut">
              <a:rPr lang="en-US" smtClean="0"/>
              <a:t>6/27/2024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CA72E-1DEA-C54D-A3EA-A198B48DCC3E}" type="slidenum">
              <a:rPr lang="en-US" smtClean="0"/>
              <a:t>‹#›</a:t>
            </a:fld>
            <a:endParaRPr lang="en-US"/>
          </a:p>
        </p:txBody>
      </p:sp>
    </p:spTree>
    <p:extLst>
      <p:ext uri="{BB962C8B-B14F-4D97-AF65-F5344CB8AC3E}">
        <p14:creationId xmlns:p14="http://schemas.microsoft.com/office/powerpoint/2010/main" val="172786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7" y="6128159"/>
            <a:ext cx="13591277" cy="617027"/>
          </a:xfrm>
          <a:prstGeom prst="rect">
            <a:avLst/>
          </a:prstGeom>
        </p:spPr>
        <p:txBody>
          <a:bodyPr wrap="square" lIns="163258" tIns="163258" rIns="163258" bIns="163258" anchor="t" anchorCtr="0">
            <a:spAutoFit/>
          </a:bodyPr>
          <a:lstStyle>
            <a:lvl1pPr marL="0" indent="0">
              <a:buNone/>
              <a:defRPr sz="1867">
                <a:solidFill>
                  <a:schemeClr val="accent5">
                    <a:lumMod val="50000"/>
                  </a:schemeClr>
                </a:solidFill>
                <a:latin typeface="Times New Roman" panose="02020603050405020304" pitchFamily="18" charset="0"/>
                <a:cs typeface="Times New Roman" panose="02020603050405020304" pitchFamily="18" charset="0"/>
              </a:defRPr>
            </a:lvl1pPr>
            <a:lvl2pPr marL="1414866" indent="-544180">
              <a:defRPr sz="2400">
                <a:latin typeface="Trebuchet MS" pitchFamily="34" charset="0"/>
              </a:defRPr>
            </a:lvl2pPr>
            <a:lvl3pPr marL="1959047" indent="-544180">
              <a:defRPr sz="2400">
                <a:latin typeface="Trebuchet MS" pitchFamily="34" charset="0"/>
              </a:defRPr>
            </a:lvl3pPr>
            <a:lvl4pPr marL="2557644" indent="-598598">
              <a:defRPr sz="2400">
                <a:latin typeface="Trebuchet MS" pitchFamily="34" charset="0"/>
              </a:defRPr>
            </a:lvl4pPr>
            <a:lvl5pPr marL="2992988" indent="-435344">
              <a:defRPr sz="24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9" y="5331693"/>
            <a:ext cx="13573127" cy="562771"/>
          </a:xfrm>
          <a:prstGeom prst="rect">
            <a:avLst/>
          </a:prstGeom>
          <a:noFill/>
        </p:spPr>
        <p:txBody>
          <a:bodyPr wrap="square" lIns="65304" tIns="65304" rIns="65304" bIns="65304" anchor="t" anchorCtr="0">
            <a:spAutoFit/>
          </a:bodyPr>
          <a:lstStyle>
            <a:lvl1pPr marL="0" indent="0" algn="ctr">
              <a:buNone/>
              <a:defRPr sz="28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9" y="18125995"/>
            <a:ext cx="13592864" cy="617027"/>
          </a:xfrm>
          <a:prstGeom prst="rect">
            <a:avLst/>
          </a:prstGeom>
        </p:spPr>
        <p:txBody>
          <a:bodyPr wrap="square" lIns="163258" tIns="163258" rIns="163258" bIns="163258" anchor="t" anchorCtr="0">
            <a:spAutoFit/>
          </a:bodyPr>
          <a:lstStyle>
            <a:lvl1pPr marL="0" indent="0">
              <a:buNone/>
              <a:defRPr sz="1867">
                <a:solidFill>
                  <a:schemeClr val="accent5">
                    <a:lumMod val="50000"/>
                  </a:schemeClr>
                </a:solidFill>
                <a:latin typeface="Times New Roman" panose="02020603050405020304" pitchFamily="18" charset="0"/>
                <a:cs typeface="Times New Roman" panose="02020603050405020304" pitchFamily="18" charset="0"/>
              </a:defRPr>
            </a:lvl1pPr>
            <a:lvl2pPr marL="1414866" indent="-544180">
              <a:defRPr sz="2400">
                <a:latin typeface="Trebuchet MS" pitchFamily="34" charset="0"/>
              </a:defRPr>
            </a:lvl2pPr>
            <a:lvl3pPr marL="1959047" indent="-544180">
              <a:defRPr sz="2400">
                <a:latin typeface="Trebuchet MS" pitchFamily="34" charset="0"/>
              </a:defRPr>
            </a:lvl3pPr>
            <a:lvl4pPr marL="2557644" indent="-598598">
              <a:defRPr sz="2400">
                <a:latin typeface="Trebuchet MS" pitchFamily="34" charset="0"/>
              </a:defRPr>
            </a:lvl4pPr>
            <a:lvl5pPr marL="2992988" indent="-435344">
              <a:defRPr sz="24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308928"/>
            <a:ext cx="13573125" cy="562771"/>
          </a:xfrm>
          <a:prstGeom prst="rect">
            <a:avLst/>
          </a:prstGeom>
          <a:noFill/>
        </p:spPr>
        <p:txBody>
          <a:bodyPr wrap="square" lIns="65304" tIns="65304" rIns="65304" bIns="65304" anchor="t" anchorCtr="0">
            <a:spAutoFit/>
          </a:bodyPr>
          <a:lstStyle>
            <a:lvl1pPr marL="0" indent="0" algn="ctr">
              <a:buNone/>
              <a:defRPr sz="28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8" y="21480599"/>
            <a:ext cx="13571535" cy="617027"/>
          </a:xfrm>
          <a:prstGeom prst="rect">
            <a:avLst/>
          </a:prstGeom>
        </p:spPr>
        <p:txBody>
          <a:bodyPr wrap="square" lIns="163258" tIns="163258" rIns="163258" bIns="163258" anchor="t" anchorCtr="0">
            <a:spAutoFit/>
          </a:bodyPr>
          <a:lstStyle>
            <a:lvl1pPr marL="0" indent="0">
              <a:buNone/>
              <a:defRPr sz="1867">
                <a:solidFill>
                  <a:schemeClr val="accent5">
                    <a:lumMod val="50000"/>
                  </a:schemeClr>
                </a:solidFill>
                <a:latin typeface="Times New Roman" panose="02020603050405020304" pitchFamily="18" charset="0"/>
                <a:cs typeface="Times New Roman" panose="02020603050405020304" pitchFamily="18" charset="0"/>
              </a:defRPr>
            </a:lvl1pPr>
            <a:lvl2pPr marL="1414866" indent="-544180">
              <a:defRPr sz="2400">
                <a:latin typeface="Trebuchet MS" pitchFamily="34" charset="0"/>
              </a:defRPr>
            </a:lvl2pPr>
            <a:lvl3pPr marL="1959047" indent="-544180">
              <a:defRPr sz="2400">
                <a:latin typeface="Trebuchet MS" pitchFamily="34" charset="0"/>
              </a:defRPr>
            </a:lvl3pPr>
            <a:lvl4pPr marL="2557644" indent="-598598">
              <a:defRPr sz="2400">
                <a:latin typeface="Trebuchet MS" pitchFamily="34" charset="0"/>
              </a:defRPr>
            </a:lvl4pPr>
            <a:lvl5pPr marL="2992988" indent="-435344">
              <a:defRPr sz="24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8" y="20639361"/>
            <a:ext cx="13571535" cy="562771"/>
          </a:xfrm>
          <a:prstGeom prst="rect">
            <a:avLst/>
          </a:prstGeom>
          <a:noFill/>
        </p:spPr>
        <p:txBody>
          <a:bodyPr wrap="square" lIns="65304" tIns="65304" rIns="65304" bIns="65304" anchor="t" anchorCtr="0">
            <a:spAutoFit/>
          </a:bodyPr>
          <a:lstStyle>
            <a:lvl1pPr marL="0" indent="0" algn="ctr">
              <a:buNone/>
              <a:defRPr sz="28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7" y="6136096"/>
            <a:ext cx="13571535" cy="617027"/>
          </a:xfrm>
          <a:prstGeom prst="rect">
            <a:avLst/>
          </a:prstGeom>
        </p:spPr>
        <p:txBody>
          <a:bodyPr wrap="square" lIns="163258" tIns="163258" rIns="163258" bIns="163258" anchor="t" anchorCtr="0">
            <a:spAutoFit/>
          </a:bodyPr>
          <a:lstStyle>
            <a:lvl1pPr marL="0" indent="0">
              <a:buNone/>
              <a:tabLst/>
              <a:defRPr sz="1867">
                <a:solidFill>
                  <a:schemeClr val="accent5">
                    <a:lumMod val="50000"/>
                  </a:schemeClr>
                </a:solidFill>
                <a:latin typeface="Times New Roman" panose="02020603050405020304" pitchFamily="18" charset="0"/>
                <a:cs typeface="Times New Roman" panose="02020603050405020304" pitchFamily="18" charset="0"/>
              </a:defRPr>
            </a:lvl1pPr>
            <a:lvl2pPr marL="1414866" indent="-544180">
              <a:defRPr sz="2400">
                <a:latin typeface="Trebuchet MS" pitchFamily="34" charset="0"/>
              </a:defRPr>
            </a:lvl2pPr>
            <a:lvl3pPr marL="1959047" indent="-544180">
              <a:defRPr sz="2400">
                <a:latin typeface="Trebuchet MS" pitchFamily="34" charset="0"/>
              </a:defRPr>
            </a:lvl3pPr>
            <a:lvl4pPr marL="2557644" indent="-598598">
              <a:defRPr sz="2400">
                <a:latin typeface="Trebuchet MS" pitchFamily="34" charset="0"/>
              </a:defRPr>
            </a:lvl4pPr>
            <a:lvl5pPr marL="2992988" indent="-435344">
              <a:defRPr sz="24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331693"/>
            <a:ext cx="13579475" cy="562771"/>
          </a:xfrm>
          <a:prstGeom prst="rect">
            <a:avLst/>
          </a:prstGeom>
          <a:noFill/>
        </p:spPr>
        <p:txBody>
          <a:bodyPr wrap="square" lIns="65304" tIns="65304" rIns="65304" bIns="65304" anchor="t" anchorCtr="0">
            <a:spAutoFit/>
          </a:bodyPr>
          <a:lstStyle>
            <a:lvl1pPr marL="0" indent="0" algn="ctr">
              <a:buNone/>
              <a:defRPr sz="28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2" y="5331693"/>
            <a:ext cx="13576029" cy="562771"/>
          </a:xfrm>
          <a:prstGeom prst="rect">
            <a:avLst/>
          </a:prstGeom>
          <a:noFill/>
        </p:spPr>
        <p:txBody>
          <a:bodyPr wrap="square" lIns="65304" tIns="65304" rIns="65304" bIns="65304" anchor="t" anchorCtr="0">
            <a:spAutoFit/>
          </a:bodyPr>
          <a:lstStyle>
            <a:lvl1pPr marL="0" indent="0" algn="ctr">
              <a:buNone/>
              <a:defRPr sz="28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2" y="6128159"/>
            <a:ext cx="13576029" cy="617027"/>
          </a:xfrm>
          <a:prstGeom prst="rect">
            <a:avLst/>
          </a:prstGeom>
        </p:spPr>
        <p:txBody>
          <a:bodyPr wrap="square" lIns="163258" tIns="163258" rIns="163258" bIns="163258" anchor="t" anchorCtr="0">
            <a:spAutoFit/>
          </a:bodyPr>
          <a:lstStyle>
            <a:lvl1pPr marL="0" indent="0">
              <a:buNone/>
              <a:defRPr sz="1867">
                <a:solidFill>
                  <a:schemeClr val="accent5">
                    <a:lumMod val="50000"/>
                  </a:schemeClr>
                </a:solidFill>
                <a:latin typeface="Times New Roman" panose="02020603050405020304" pitchFamily="18" charset="0"/>
                <a:cs typeface="Times New Roman" panose="02020603050405020304" pitchFamily="18" charset="0"/>
              </a:defRPr>
            </a:lvl1pPr>
            <a:lvl2pPr marL="1414866" indent="-544180">
              <a:defRPr sz="2400">
                <a:latin typeface="Trebuchet MS" pitchFamily="34" charset="0"/>
              </a:defRPr>
            </a:lvl2pPr>
            <a:lvl3pPr marL="1959047" indent="-544180">
              <a:defRPr sz="2400">
                <a:latin typeface="Trebuchet MS" pitchFamily="34" charset="0"/>
              </a:defRPr>
            </a:lvl3pPr>
            <a:lvl4pPr marL="2557644" indent="-598598">
              <a:defRPr sz="2400">
                <a:latin typeface="Trebuchet MS" pitchFamily="34" charset="0"/>
              </a:defRPr>
            </a:lvl4pPr>
            <a:lvl5pPr marL="2992988" indent="-435344">
              <a:defRPr sz="24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2" y="17276821"/>
            <a:ext cx="13576029" cy="562771"/>
          </a:xfrm>
          <a:prstGeom prst="rect">
            <a:avLst/>
          </a:prstGeom>
          <a:noFill/>
        </p:spPr>
        <p:txBody>
          <a:bodyPr wrap="square" lIns="65304" tIns="65304" rIns="65304" bIns="65304" anchor="t" anchorCtr="0">
            <a:spAutoFit/>
          </a:bodyPr>
          <a:lstStyle>
            <a:lvl1pPr marL="0" indent="0" algn="ctr">
              <a:buNone/>
              <a:defRPr sz="28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1" y="18169538"/>
            <a:ext cx="13581061" cy="617027"/>
          </a:xfrm>
          <a:prstGeom prst="rect">
            <a:avLst/>
          </a:prstGeom>
        </p:spPr>
        <p:txBody>
          <a:bodyPr wrap="square" lIns="163258" tIns="163258" rIns="163258" bIns="163258" anchor="t" anchorCtr="0">
            <a:spAutoFit/>
          </a:bodyPr>
          <a:lstStyle>
            <a:lvl1pPr marL="0" indent="0">
              <a:buNone/>
              <a:tabLst/>
              <a:defRPr sz="1867">
                <a:solidFill>
                  <a:schemeClr val="accent5">
                    <a:lumMod val="50000"/>
                  </a:schemeClr>
                </a:solidFill>
                <a:latin typeface="Times New Roman" panose="02020603050405020304" pitchFamily="18" charset="0"/>
                <a:cs typeface="Times New Roman" panose="02020603050405020304" pitchFamily="18" charset="0"/>
              </a:defRPr>
            </a:lvl1pPr>
            <a:lvl2pPr marL="1414866" indent="-544180">
              <a:defRPr sz="2400">
                <a:latin typeface="Trebuchet MS" pitchFamily="34" charset="0"/>
              </a:defRPr>
            </a:lvl2pPr>
            <a:lvl3pPr marL="1959047" indent="-544180">
              <a:defRPr sz="2400">
                <a:latin typeface="Trebuchet MS" pitchFamily="34" charset="0"/>
              </a:defRPr>
            </a:lvl3pPr>
            <a:lvl4pPr marL="2557644" indent="-598598">
              <a:defRPr sz="2400">
                <a:latin typeface="Trebuchet MS" pitchFamily="34" charset="0"/>
              </a:defRPr>
            </a:lvl4pPr>
            <a:lvl5pPr marL="2992988" indent="-435344">
              <a:defRPr sz="24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2" y="25745355"/>
            <a:ext cx="13576029" cy="562771"/>
          </a:xfrm>
          <a:prstGeom prst="rect">
            <a:avLst/>
          </a:prstGeom>
          <a:noFill/>
        </p:spPr>
        <p:txBody>
          <a:bodyPr wrap="square" lIns="65304" tIns="65304" rIns="65304" bIns="65304" anchor="t" anchorCtr="0">
            <a:spAutoFit/>
          </a:bodyPr>
          <a:lstStyle>
            <a:lvl1pPr marL="0" indent="0" algn="ctr">
              <a:buNone/>
              <a:defRPr sz="28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3" y="26594531"/>
            <a:ext cx="13581061" cy="617027"/>
          </a:xfrm>
          <a:prstGeom prst="rect">
            <a:avLst/>
          </a:prstGeom>
        </p:spPr>
        <p:txBody>
          <a:bodyPr wrap="square" lIns="163258" tIns="163258" rIns="163258" bIns="163258" anchor="t" anchorCtr="0">
            <a:spAutoFit/>
          </a:bodyPr>
          <a:lstStyle>
            <a:lvl1pPr marL="0" indent="0">
              <a:buNone/>
              <a:defRPr sz="1867">
                <a:solidFill>
                  <a:schemeClr val="accent5">
                    <a:lumMod val="50000"/>
                  </a:schemeClr>
                </a:solidFill>
                <a:latin typeface="Times New Roman" panose="02020603050405020304" pitchFamily="18" charset="0"/>
                <a:cs typeface="Times New Roman" panose="02020603050405020304" pitchFamily="18" charset="0"/>
              </a:defRPr>
            </a:lvl1pPr>
            <a:lvl2pPr marL="1414866" indent="-544180">
              <a:defRPr sz="2400">
                <a:latin typeface="Trebuchet MS" pitchFamily="34" charset="0"/>
              </a:defRPr>
            </a:lvl2pPr>
            <a:lvl3pPr marL="1959047" indent="-544180">
              <a:defRPr sz="2400">
                <a:latin typeface="Trebuchet MS" pitchFamily="34" charset="0"/>
              </a:defRPr>
            </a:lvl3pPr>
            <a:lvl4pPr marL="2557644" indent="-598598">
              <a:defRPr sz="2400">
                <a:latin typeface="Trebuchet MS" pitchFamily="34" charset="0"/>
              </a:defRPr>
            </a:lvl4pPr>
            <a:lvl5pPr marL="2992988" indent="-435344">
              <a:defRPr sz="2400">
                <a:latin typeface="Trebuchet MS" pitchFamily="34" charset="0"/>
              </a:defRPr>
            </a:lvl5pPr>
          </a:lstStyle>
          <a:p>
            <a:pPr lvl="0"/>
            <a:r>
              <a:rPr lang="en-US" dirty="0"/>
              <a:t>Type in or paste your text here</a:t>
            </a:r>
          </a:p>
        </p:txBody>
      </p:sp>
      <p:sp>
        <p:nvSpPr>
          <p:cNvPr id="63" name="Text Placeholder 76"/>
          <p:cNvSpPr>
            <a:spLocks noGrp="1"/>
          </p:cNvSpPr>
          <p:nvPr>
            <p:ph type="body" sz="quarter" idx="161" hasCustomPrompt="1"/>
          </p:nvPr>
        </p:nvSpPr>
        <p:spPr>
          <a:xfrm>
            <a:off x="5875934" y="2343021"/>
            <a:ext cx="32146396" cy="995209"/>
          </a:xfrm>
          <a:prstGeom prst="rect">
            <a:avLst/>
          </a:prstGeom>
        </p:spPr>
        <p:txBody>
          <a:bodyPr anchor="t" anchorCtr="0">
            <a:spAutoFit/>
          </a:bodyPr>
          <a:lstStyle>
            <a:lvl1pPr marL="0" indent="0" algn="ctr">
              <a:buFontTx/>
              <a:buNone/>
              <a:defRPr sz="5867">
                <a:solidFill>
                  <a:schemeClr val="accent5">
                    <a:lumMod val="50000"/>
                  </a:schemeClr>
                </a:solidFill>
              </a:defRPr>
            </a:lvl1pPr>
            <a:lvl2pPr>
              <a:buFontTx/>
              <a:buNone/>
              <a:defRPr sz="9600"/>
            </a:lvl2pPr>
            <a:lvl3pPr>
              <a:buFontTx/>
              <a:buNone/>
              <a:defRPr sz="9600"/>
            </a:lvl3pPr>
            <a:lvl4pPr>
              <a:buFontTx/>
              <a:buNone/>
              <a:defRPr sz="9600"/>
            </a:lvl4pPr>
            <a:lvl5pPr>
              <a:buFontTx/>
              <a:buNone/>
              <a:defRPr sz="9600"/>
            </a:lvl5pPr>
          </a:lstStyle>
          <a:p>
            <a:pPr lvl="0"/>
            <a:r>
              <a:rPr lang="en-US" dirty="0"/>
              <a:t>Click here to add authors</a:t>
            </a:r>
          </a:p>
        </p:txBody>
      </p:sp>
      <p:sp>
        <p:nvSpPr>
          <p:cNvPr id="64" name="Text Placeholder 76"/>
          <p:cNvSpPr>
            <a:spLocks noGrp="1"/>
          </p:cNvSpPr>
          <p:nvPr>
            <p:ph type="body" sz="quarter" idx="195" hasCustomPrompt="1"/>
          </p:nvPr>
        </p:nvSpPr>
        <p:spPr>
          <a:xfrm>
            <a:off x="5875934" y="3665127"/>
            <a:ext cx="32146396" cy="830997"/>
          </a:xfrm>
          <a:prstGeom prst="rect">
            <a:avLst/>
          </a:prstGeom>
        </p:spPr>
        <p:txBody>
          <a:bodyPr anchor="t" anchorCtr="0">
            <a:spAutoFit/>
          </a:bodyPr>
          <a:lstStyle>
            <a:lvl1pPr marL="0" indent="0" algn="ctr">
              <a:buFontTx/>
              <a:buNone/>
              <a:defRPr sz="4800">
                <a:solidFill>
                  <a:schemeClr val="accent5">
                    <a:lumMod val="50000"/>
                  </a:schemeClr>
                </a:solidFill>
              </a:defRPr>
            </a:lvl1pPr>
            <a:lvl2pPr>
              <a:buFontTx/>
              <a:buNone/>
              <a:defRPr sz="9600"/>
            </a:lvl2pPr>
            <a:lvl3pPr>
              <a:buFontTx/>
              <a:buNone/>
              <a:defRPr sz="9600"/>
            </a:lvl3pPr>
            <a:lvl4pPr>
              <a:buFontTx/>
              <a:buNone/>
              <a:defRPr sz="9600"/>
            </a:lvl4pPr>
            <a:lvl5pPr>
              <a:buFontTx/>
              <a:buNone/>
              <a:defRPr sz="9600"/>
            </a:lvl5pPr>
          </a:lstStyle>
          <a:p>
            <a:pPr lvl="0"/>
            <a:r>
              <a:rPr lang="en-US" dirty="0"/>
              <a:t>Click here to add affiliations</a:t>
            </a:r>
          </a:p>
        </p:txBody>
      </p:sp>
      <p:sp>
        <p:nvSpPr>
          <p:cNvPr id="65" name="Text Placeholder 76"/>
          <p:cNvSpPr>
            <a:spLocks noGrp="1"/>
          </p:cNvSpPr>
          <p:nvPr>
            <p:ph type="body" sz="quarter" idx="196" hasCustomPrompt="1"/>
          </p:nvPr>
        </p:nvSpPr>
        <p:spPr>
          <a:xfrm>
            <a:off x="5875934" y="469439"/>
            <a:ext cx="32146396" cy="1200329"/>
          </a:xfrm>
          <a:prstGeom prst="rect">
            <a:avLst/>
          </a:prstGeom>
        </p:spPr>
        <p:txBody>
          <a:bodyPr anchor="t" anchorCtr="0">
            <a:spAutoFit/>
          </a:bodyPr>
          <a:lstStyle>
            <a:lvl1pPr marL="0" indent="0" algn="ctr">
              <a:buFontTx/>
              <a:buNone/>
              <a:defRPr sz="7200" b="1">
                <a:solidFill>
                  <a:schemeClr val="accent5">
                    <a:lumMod val="50000"/>
                  </a:schemeClr>
                </a:solidFill>
              </a:defRPr>
            </a:lvl1pPr>
            <a:lvl2pPr>
              <a:buFontTx/>
              <a:buNone/>
              <a:defRPr sz="9600"/>
            </a:lvl2pPr>
            <a:lvl3pPr>
              <a:buFontTx/>
              <a:buNone/>
              <a:defRPr sz="9600"/>
            </a:lvl3pPr>
            <a:lvl4pPr>
              <a:buFontTx/>
              <a:buNone/>
              <a:defRPr sz="9600"/>
            </a:lvl4pPr>
            <a:lvl5pPr>
              <a:buFontTx/>
              <a:buNone/>
              <a:defRPr sz="9600"/>
            </a:lvl5pPr>
          </a:lstStyle>
          <a:p>
            <a:pPr lvl="0"/>
            <a:r>
              <a:rPr lang="en-US" dirty="0"/>
              <a:t>Click here to add title</a:t>
            </a:r>
          </a:p>
        </p:txBody>
      </p:sp>
    </p:spTree>
    <p:extLst>
      <p:ext uri="{BB962C8B-B14F-4D97-AF65-F5344CB8AC3E}">
        <p14:creationId xmlns:p14="http://schemas.microsoft.com/office/powerpoint/2010/main" val="1104686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4DE00E4B-295B-3643-81B9-D886B240B44E}" type="datetimeFigureOut">
              <a:rPr lang="en-US" smtClean="0"/>
              <a:t>6/27/2024</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338CA72E-1DEA-C54D-A3EA-A198B48DCC3E}" type="slidenum">
              <a:rPr lang="en-US" smtClean="0"/>
              <a:t>‹#›</a:t>
            </a:fld>
            <a:endParaRPr lang="en-US"/>
          </a:p>
        </p:txBody>
      </p:sp>
    </p:spTree>
    <p:extLst>
      <p:ext uri="{BB962C8B-B14F-4D97-AF65-F5344CB8AC3E}">
        <p14:creationId xmlns:p14="http://schemas.microsoft.com/office/powerpoint/2010/main" val="2208760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9" name="Table 48">
            <a:extLst>
              <a:ext uri="{FF2B5EF4-FFF2-40B4-BE49-F238E27FC236}">
                <a16:creationId xmlns:a16="http://schemas.microsoft.com/office/drawing/2014/main" id="{4067B05D-91B2-D744-B806-203960606BEB}"/>
              </a:ext>
            </a:extLst>
          </p:cNvPr>
          <p:cNvGraphicFramePr>
            <a:graphicFrameLocks noGrp="1"/>
          </p:cNvGraphicFramePr>
          <p:nvPr userDrawn="1">
            <p:extLst>
              <p:ext uri="{D42A27DB-BD31-4B8C-83A1-F6EECF244321}">
                <p14:modId xmlns:p14="http://schemas.microsoft.com/office/powerpoint/2010/main" val="1466462455"/>
              </p:ext>
            </p:extLst>
          </p:nvPr>
        </p:nvGraphicFramePr>
        <p:xfrm>
          <a:off x="-8539525" y="0"/>
          <a:ext cx="8133126" cy="34756742"/>
        </p:xfrm>
        <a:graphic>
          <a:graphicData uri="http://schemas.openxmlformats.org/drawingml/2006/table">
            <a:tbl>
              <a:tblPr firstRow="1" bandRow="1">
                <a:tableStyleId>{5C22544A-7EE6-4342-B048-85BDC9FD1C3A}</a:tableStyleId>
              </a:tblPr>
              <a:tblGrid>
                <a:gridCol w="3487419">
                  <a:extLst>
                    <a:ext uri="{9D8B030D-6E8A-4147-A177-3AD203B41FA5}">
                      <a16:colId xmlns:a16="http://schemas.microsoft.com/office/drawing/2014/main" val="20000"/>
                    </a:ext>
                  </a:extLst>
                </a:gridCol>
                <a:gridCol w="4645707">
                  <a:extLst>
                    <a:ext uri="{9D8B030D-6E8A-4147-A177-3AD203B41FA5}">
                      <a16:colId xmlns:a16="http://schemas.microsoft.com/office/drawing/2014/main" val="20001"/>
                    </a:ext>
                  </a:extLst>
                </a:gridCol>
              </a:tblGrid>
              <a:tr h="1426236">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400" b="0" spc="600" dirty="0">
                          <a:solidFill>
                            <a:srgbClr val="1F3A4E"/>
                          </a:solidFill>
                          <a:latin typeface="Arial Black" panose="020B0A04020102020204" pitchFamily="34" charset="0"/>
                        </a:rPr>
                        <a:t>QUICK START GUIDE</a:t>
                      </a:r>
                      <a:br>
                        <a:rPr lang="en-US" sz="3400" b="0" spc="600" dirty="0">
                          <a:solidFill>
                            <a:srgbClr val="1F3A4E"/>
                          </a:solidFill>
                          <a:latin typeface="Arial Black" panose="020B0A04020102020204" pitchFamily="34" charset="0"/>
                        </a:rPr>
                      </a:br>
                      <a:r>
                        <a:rPr lang="en-US" sz="2700" b="1" spc="0" dirty="0">
                          <a:solidFill>
                            <a:srgbClr val="FF0000"/>
                          </a:solidFill>
                          <a:latin typeface="Trebuchet MS" pitchFamily="34" charset="0"/>
                        </a:rPr>
                        <a:t>(THIS SIDEBAR WILL NOT PRINT)</a:t>
                      </a:r>
                      <a:endParaRPr lang="en-US" sz="3400" b="1" spc="600" dirty="0">
                        <a:solidFill>
                          <a:schemeClr val="bg1"/>
                        </a:solidFill>
                        <a:latin typeface="Trebuchet MS" pitchFamily="34" charset="0"/>
                      </a:endParaRPr>
                    </a:p>
                  </a:txBody>
                  <a:tcPr marL="243840" marR="121920" marT="235131" marB="78377">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130815">
                <a:tc gridSpan="2">
                  <a:txBody>
                    <a:bodyPr/>
                    <a:lstStyle/>
                    <a:p>
                      <a:pPr defTabSz="3765639"/>
                      <a:r>
                        <a:rPr lang="en-US" sz="2100" i="0" dirty="0">
                          <a:solidFill>
                            <a:srgbClr val="D9D9D9"/>
                          </a:solidFill>
                          <a:latin typeface="Arial"/>
                          <a:cs typeface="Arial"/>
                        </a:rPr>
                        <a:t>This PowerPoint template produces a </a:t>
                      </a:r>
                      <a:r>
                        <a:rPr lang="en-US" sz="2100" i="0" dirty="0">
                          <a:solidFill>
                            <a:srgbClr val="FFC000"/>
                          </a:solidFill>
                          <a:latin typeface="Arial"/>
                          <a:cs typeface="Arial"/>
                        </a:rPr>
                        <a:t>42"x72" </a:t>
                      </a:r>
                      <a:r>
                        <a:rPr lang="en-US" sz="21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100" i="0" dirty="0">
                        <a:solidFill>
                          <a:srgbClr val="D9D9D9"/>
                        </a:solidFill>
                        <a:latin typeface="Arial"/>
                        <a:cs typeface="Arial"/>
                      </a:endParaRPr>
                    </a:p>
                    <a:p>
                      <a:pPr defTabSz="3765639"/>
                      <a:r>
                        <a:rPr lang="en-US" sz="21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100" i="0" dirty="0" err="1">
                          <a:solidFill>
                            <a:srgbClr val="FFC000"/>
                          </a:solidFill>
                          <a:latin typeface="Arial"/>
                          <a:cs typeface="Arial"/>
                        </a:rPr>
                        <a:t>PosterPresentations.com</a:t>
                      </a:r>
                      <a:r>
                        <a:rPr lang="en-US" sz="2100" i="0" dirty="0">
                          <a:solidFill>
                            <a:srgbClr val="D9D9D9"/>
                          </a:solidFill>
                          <a:latin typeface="Arial"/>
                          <a:cs typeface="Arial"/>
                        </a:rPr>
                        <a:t> and click on the  </a:t>
                      </a:r>
                      <a:r>
                        <a:rPr lang="en-US" sz="2100" i="0" dirty="0">
                          <a:solidFill>
                            <a:srgbClr val="FFC000"/>
                          </a:solidFill>
                          <a:latin typeface="Arial"/>
                          <a:cs typeface="Arial"/>
                        </a:rPr>
                        <a:t>HELP DESK</a:t>
                      </a:r>
                      <a:r>
                        <a:rPr lang="en-US" sz="2100" i="0" baseline="0" dirty="0">
                          <a:solidFill>
                            <a:srgbClr val="D9D9D9"/>
                          </a:solidFill>
                          <a:latin typeface="Arial"/>
                          <a:cs typeface="Arial"/>
                        </a:rPr>
                        <a:t> </a:t>
                      </a:r>
                      <a:r>
                        <a:rPr lang="en-US" sz="2100" i="0" dirty="0">
                          <a:solidFill>
                            <a:srgbClr val="D9D9D9"/>
                          </a:solidFill>
                          <a:latin typeface="Arial"/>
                          <a:cs typeface="Arial"/>
                        </a:rPr>
                        <a:t>tab.</a:t>
                      </a:r>
                    </a:p>
                    <a:p>
                      <a:pPr defTabSz="3765639"/>
                      <a:endParaRPr lang="en-US" sz="2100" i="0" dirty="0">
                        <a:solidFill>
                          <a:srgbClr val="D9D9D9"/>
                        </a:solidFill>
                        <a:latin typeface="Arial"/>
                        <a:cs typeface="Arial"/>
                      </a:endParaRPr>
                    </a:p>
                    <a:p>
                      <a:pPr defTabSz="3765639"/>
                      <a:r>
                        <a:rPr lang="en-US" sz="2100" i="0" dirty="0">
                          <a:solidFill>
                            <a:srgbClr val="D9D9D9"/>
                          </a:solidFill>
                          <a:latin typeface="Arial"/>
                          <a:cs typeface="Arial"/>
                        </a:rPr>
                        <a:t>To print your poster using our same-day professional printing service, go online to </a:t>
                      </a:r>
                      <a:r>
                        <a:rPr lang="en-US" sz="2100" i="0" dirty="0" err="1">
                          <a:solidFill>
                            <a:srgbClr val="FFC000"/>
                          </a:solidFill>
                          <a:latin typeface="Arial"/>
                          <a:cs typeface="Arial"/>
                        </a:rPr>
                        <a:t>PosterPresentations.com</a:t>
                      </a:r>
                      <a:r>
                        <a:rPr lang="en-US" sz="2100" i="0" dirty="0">
                          <a:solidFill>
                            <a:srgbClr val="D9D9D9"/>
                          </a:solidFill>
                          <a:latin typeface="Arial"/>
                          <a:cs typeface="Arial"/>
                        </a:rPr>
                        <a:t> and click on "</a:t>
                      </a:r>
                      <a:r>
                        <a:rPr lang="en-US" sz="2100" i="0" dirty="0">
                          <a:solidFill>
                            <a:srgbClr val="FFC000"/>
                          </a:solidFill>
                          <a:latin typeface="Arial"/>
                          <a:cs typeface="Arial"/>
                        </a:rPr>
                        <a:t>Order your poster</a:t>
                      </a:r>
                      <a:r>
                        <a:rPr lang="en-US" sz="2100" i="0" dirty="0">
                          <a:solidFill>
                            <a:srgbClr val="D9D9D9"/>
                          </a:solidFill>
                          <a:latin typeface="Arial"/>
                          <a:cs typeface="Arial"/>
                        </a:rPr>
                        <a:t>".</a:t>
                      </a:r>
                      <a:endParaRPr lang="en-US" sz="2100" b="1" dirty="0">
                        <a:solidFill>
                          <a:srgbClr val="D9D9D9"/>
                        </a:solidFill>
                        <a:latin typeface="Arial"/>
                        <a:cs typeface="Arial"/>
                      </a:endParaRPr>
                    </a:p>
                  </a:txBody>
                  <a:tcPr marL="243840" marR="121920" marT="235131" marB="78377">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490016">
                <a:tc>
                  <a:txBody>
                    <a:bodyPr/>
                    <a:lstStyle/>
                    <a:p>
                      <a:pPr algn="ctr"/>
                      <a:endParaRPr lang="en-US" sz="2100" dirty="0">
                        <a:solidFill>
                          <a:srgbClr val="1F3A4E"/>
                        </a:solidFill>
                      </a:endParaRPr>
                    </a:p>
                    <a:p>
                      <a:pPr algn="ctr"/>
                      <a:endParaRPr lang="en-US" sz="2100" dirty="0">
                        <a:solidFill>
                          <a:srgbClr val="1F3A4E"/>
                        </a:solidFill>
                      </a:endParaRPr>
                    </a:p>
                    <a:p>
                      <a:pPr algn="ctr"/>
                      <a:r>
                        <a:rPr lang="en-US" sz="2100" dirty="0">
                          <a:solidFill>
                            <a:schemeClr val="bg1"/>
                          </a:solidFill>
                          <a:latin typeface="Arial" panose="020B0604020202020204" pitchFamily="34" charset="0"/>
                          <a:cs typeface="Arial" panose="020B0604020202020204" pitchFamily="34" charset="0"/>
                        </a:rPr>
                        <a:t>This is a template for a</a:t>
                      </a:r>
                      <a:br>
                        <a:rPr lang="en-US" sz="2100" dirty="0">
                          <a:solidFill>
                            <a:schemeClr val="bg1"/>
                          </a:solidFill>
                          <a:latin typeface="Arial" panose="020B0604020202020204" pitchFamily="34" charset="0"/>
                          <a:cs typeface="Arial" panose="020B0604020202020204" pitchFamily="34" charset="0"/>
                        </a:rPr>
                      </a:br>
                      <a:r>
                        <a:rPr lang="en-US" sz="2100" dirty="0">
                          <a:solidFill>
                            <a:schemeClr val="bg1"/>
                          </a:solidFill>
                          <a:latin typeface="Arial" panose="020B0604020202020204" pitchFamily="34" charset="0"/>
                          <a:cs typeface="Arial" panose="020B0604020202020204" pitchFamily="34" charset="0"/>
                        </a:rPr>
                        <a:t>presentation poster</a:t>
                      </a:r>
                      <a:br>
                        <a:rPr lang="en-US" sz="2100" dirty="0">
                          <a:solidFill>
                            <a:schemeClr val="bg1"/>
                          </a:solidFill>
                          <a:latin typeface="Arial" panose="020B0604020202020204" pitchFamily="34" charset="0"/>
                          <a:cs typeface="Arial" panose="020B0604020202020204" pitchFamily="34" charset="0"/>
                        </a:rPr>
                      </a:br>
                      <a:r>
                        <a:rPr lang="en-US" sz="3400" b="1" dirty="0">
                          <a:solidFill>
                            <a:srgbClr val="FFC000"/>
                          </a:solidFill>
                          <a:latin typeface="Arial" panose="020B0604020202020204" pitchFamily="34" charset="0"/>
                          <a:cs typeface="Arial" panose="020B0604020202020204" pitchFamily="34" charset="0"/>
                        </a:rPr>
                        <a:t>42 inches tall</a:t>
                      </a:r>
                      <a:br>
                        <a:rPr lang="en-US" sz="3400" b="1" dirty="0">
                          <a:solidFill>
                            <a:srgbClr val="FFC000"/>
                          </a:solidFill>
                          <a:latin typeface="Arial" panose="020B0604020202020204" pitchFamily="34" charset="0"/>
                          <a:cs typeface="Arial" panose="020B0604020202020204" pitchFamily="34" charset="0"/>
                        </a:rPr>
                      </a:br>
                      <a:r>
                        <a:rPr lang="en-US" sz="3400" b="1" dirty="0">
                          <a:solidFill>
                            <a:srgbClr val="FFC000"/>
                          </a:solidFill>
                          <a:latin typeface="Arial" panose="020B0604020202020204" pitchFamily="34" charset="0"/>
                          <a:cs typeface="Arial" panose="020B0604020202020204" pitchFamily="34" charset="0"/>
                        </a:rPr>
                        <a:t>by</a:t>
                      </a:r>
                      <a:br>
                        <a:rPr lang="en-US" sz="3400" b="1" dirty="0">
                          <a:solidFill>
                            <a:srgbClr val="FFC000"/>
                          </a:solidFill>
                          <a:latin typeface="Arial" panose="020B0604020202020204" pitchFamily="34" charset="0"/>
                          <a:cs typeface="Arial" panose="020B0604020202020204" pitchFamily="34" charset="0"/>
                        </a:rPr>
                      </a:br>
                      <a:r>
                        <a:rPr lang="en-US" sz="3400" b="1" dirty="0">
                          <a:solidFill>
                            <a:srgbClr val="FFC000"/>
                          </a:solidFill>
                          <a:latin typeface="Arial" panose="020B0604020202020204" pitchFamily="34" charset="0"/>
                          <a:cs typeface="Arial" panose="020B0604020202020204" pitchFamily="34" charset="0"/>
                        </a:rPr>
                        <a:t>72 inches wide</a:t>
                      </a:r>
                      <a:br>
                        <a:rPr lang="en-US" sz="2100" dirty="0">
                          <a:solidFill>
                            <a:schemeClr val="bg1"/>
                          </a:solidFill>
                          <a:latin typeface="Arial" panose="020B0604020202020204" pitchFamily="34" charset="0"/>
                          <a:cs typeface="Arial" panose="020B0604020202020204" pitchFamily="34" charset="0"/>
                        </a:rPr>
                      </a:br>
                      <a:endParaRPr lang="en-US" sz="2100" dirty="0">
                        <a:solidFill>
                          <a:srgbClr val="1F3A4E"/>
                        </a:solidFill>
                      </a:endParaRPr>
                    </a:p>
                  </a:txBody>
                  <a:tcPr marL="121920" marR="121920" marT="78377" marB="78377">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100" b="0" baseline="0" dirty="0">
                          <a:solidFill>
                            <a:srgbClr val="FFC000"/>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36 tall x 61.70 wide</a:t>
                      </a:r>
                      <a:br>
                        <a:rPr lang="en-US" sz="2100" b="0" baseline="0" dirty="0">
                          <a:solidFill>
                            <a:srgbClr val="FFC000"/>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48 tall x 82.28 wide</a:t>
                      </a:r>
                    </a:p>
                  </a:txBody>
                  <a:tcPr marL="243840" marR="121920" marT="235131" marB="78377">
                    <a:solidFill>
                      <a:srgbClr val="010101"/>
                    </a:solidFill>
                  </a:tcPr>
                </a:tc>
                <a:extLst>
                  <a:ext uri="{0D108BD9-81ED-4DB2-BD59-A6C34878D82A}">
                    <a16:rowId xmlns:a16="http://schemas.microsoft.com/office/drawing/2014/main" val="10008"/>
                  </a:ext>
                </a:extLst>
              </a:tr>
              <a:tr h="4211403">
                <a:tc>
                  <a:txBody>
                    <a:bodyPr/>
                    <a:lstStyle/>
                    <a:p>
                      <a:endParaRPr lang="en-US" sz="2100" dirty="0">
                        <a:solidFill>
                          <a:srgbClr val="1F3A4E"/>
                        </a:solidFill>
                      </a:endParaRPr>
                    </a:p>
                  </a:txBody>
                  <a:tcPr marL="121920" marR="121920" marT="78377" marB="78377">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1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9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1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1. </a:t>
                      </a:r>
                      <a:r>
                        <a:rPr lang="en-US" sz="21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100" b="0" baseline="0" dirty="0">
                          <a:solidFill>
                            <a:srgbClr val="D9D9D9"/>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2. </a:t>
                      </a:r>
                      <a:r>
                        <a:rPr lang="en-US" sz="21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243840" marR="121920" marT="235131" marB="78377">
                    <a:solidFill>
                      <a:srgbClr val="010101"/>
                    </a:solidFill>
                  </a:tcPr>
                </a:tc>
                <a:extLst>
                  <a:ext uri="{0D108BD9-81ED-4DB2-BD59-A6C34878D82A}">
                    <a16:rowId xmlns:a16="http://schemas.microsoft.com/office/drawing/2014/main" val="10001"/>
                  </a:ext>
                </a:extLst>
              </a:tr>
              <a:tr h="202050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100" b="0" baseline="0" dirty="0">
                          <a:solidFill>
                            <a:srgbClr val="FFC000"/>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21920" marR="121920" marT="78377" marB="78377">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81574">
                <a:tc>
                  <a:txBody>
                    <a:bodyPr/>
                    <a:lstStyle/>
                    <a:p>
                      <a:endParaRPr lang="en-US" sz="2100" dirty="0">
                        <a:solidFill>
                          <a:srgbClr val="1F3A4E"/>
                        </a:solidFill>
                      </a:endParaRPr>
                    </a:p>
                  </a:txBody>
                  <a:tcPr marL="121920" marR="121920" marT="78377" marB="78377">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a:t>
                      </a:r>
                      <a:r>
                        <a:rPr lang="en-US" sz="2100" b="0" baseline="0" dirty="0">
                          <a:solidFill>
                            <a:schemeClr val="bg1"/>
                          </a:solidFill>
                          <a:latin typeface="Arial" panose="020B0604020202020204" pitchFamily="34" charset="0"/>
                          <a:cs typeface="Arial" panose="020B0604020202020204" pitchFamily="34" charset="0"/>
                        </a:rPr>
                        <a:t> </a:t>
                      </a:r>
                      <a:r>
                        <a:rPr lang="en-US" sz="21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a:t>
                      </a:r>
                      <a:r>
                        <a:rPr lang="en-US" sz="2100" b="0" baseline="0" dirty="0">
                          <a:solidFill>
                            <a:schemeClr val="bg1"/>
                          </a:solidFill>
                          <a:latin typeface="Arial" panose="020B0604020202020204" pitchFamily="34" charset="0"/>
                          <a:cs typeface="Arial" panose="020B0604020202020204" pitchFamily="34" charset="0"/>
                        </a:rPr>
                        <a:t> </a:t>
                      </a:r>
                      <a:r>
                        <a:rPr lang="en-US" sz="21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100" b="0" baseline="0" dirty="0">
                          <a:solidFill>
                            <a:schemeClr val="bg1"/>
                          </a:solidFill>
                          <a:latin typeface="Arial" panose="020B0604020202020204" pitchFamily="34" charset="0"/>
                          <a:cs typeface="Arial" panose="020B0604020202020204" pitchFamily="34" charset="0"/>
                        </a:rPr>
                      </a:br>
                      <a:r>
                        <a:rPr lang="en-US" sz="2100" b="0" baseline="0" dirty="0">
                          <a:solidFill>
                            <a:srgbClr val="FFC000"/>
                          </a:solidFill>
                          <a:latin typeface="Arial" panose="020B0604020202020204" pitchFamily="34" charset="0"/>
                          <a:cs typeface="Arial" panose="020B0604020202020204" pitchFamily="34" charset="0"/>
                        </a:rPr>
                        <a:t>-</a:t>
                      </a:r>
                      <a:r>
                        <a:rPr lang="en-US" sz="2100" b="0" baseline="0" dirty="0">
                          <a:solidFill>
                            <a:schemeClr val="bg1"/>
                          </a:solidFill>
                          <a:latin typeface="Arial" panose="020B0604020202020204" pitchFamily="34" charset="0"/>
                          <a:cs typeface="Arial" panose="020B0604020202020204" pitchFamily="34" charset="0"/>
                        </a:rPr>
                        <a:t> </a:t>
                      </a:r>
                      <a:r>
                        <a:rPr lang="en-US" sz="21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243840" marR="121920" marT="235131" marB="78377">
                    <a:solidFill>
                      <a:srgbClr val="010101"/>
                    </a:solidFill>
                  </a:tcPr>
                </a:tc>
                <a:extLst>
                  <a:ext uri="{0D108BD9-81ED-4DB2-BD59-A6C34878D82A}">
                    <a16:rowId xmlns:a16="http://schemas.microsoft.com/office/drawing/2014/main" val="10003"/>
                  </a:ext>
                </a:extLst>
              </a:tr>
              <a:tr h="3455714">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1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1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100" dirty="0">
                        <a:solidFill>
                          <a:srgbClr val="D9D9D9"/>
                        </a:solidFill>
                        <a:latin typeface="Arial" panose="020B0604020202020204" pitchFamily="34" charset="0"/>
                        <a:cs typeface="Arial" panose="020B0604020202020204" pitchFamily="34" charset="0"/>
                      </a:endParaRPr>
                    </a:p>
                  </a:txBody>
                  <a:tcPr marL="121920" marR="121920" marT="78377" marB="78377">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3480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243840" marR="121920" marT="235131" marB="78377">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51845">
                <a:tc gridSpan="2">
                  <a:txBody>
                    <a:bodyPr/>
                    <a:lstStyle/>
                    <a:p>
                      <a:endParaRPr lang="en-US" sz="2100" dirty="0">
                        <a:solidFill>
                          <a:schemeClr val="bg1"/>
                        </a:solidFill>
                        <a:latin typeface="Arial" panose="020B0604020202020204" pitchFamily="34" charset="0"/>
                        <a:cs typeface="Arial" panose="020B0604020202020204" pitchFamily="34" charset="0"/>
                      </a:endParaRPr>
                    </a:p>
                  </a:txBody>
                  <a:tcPr marL="243840" marR="121920" marT="235131" marB="78377">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8566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100" noProof="0" dirty="0">
                          <a:solidFill>
                            <a:srgbClr val="D9D9D9"/>
                          </a:solidFill>
                          <a:latin typeface="Arial"/>
                          <a:cs typeface="Arial"/>
                        </a:rPr>
                        <a:t>Zoom in and look at your images at 100%-200% magnification. If they look clear, they will print well. </a:t>
                      </a:r>
                    </a:p>
                  </a:txBody>
                  <a:tcPr marL="243840" marR="121920" marT="235131" marB="78377">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2983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100" noProof="0" dirty="0">
                        <a:solidFill>
                          <a:schemeClr val="bg1"/>
                        </a:solidFill>
                        <a:latin typeface="Arial"/>
                        <a:cs typeface="Arial"/>
                      </a:endParaRPr>
                    </a:p>
                  </a:txBody>
                  <a:tcPr marL="243840" marR="121920" marT="235131" marB="78377">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11" name="Group 10">
            <a:extLst>
              <a:ext uri="{FF2B5EF4-FFF2-40B4-BE49-F238E27FC236}">
                <a16:creationId xmlns:a16="http://schemas.microsoft.com/office/drawing/2014/main" id="{A5DDF5F5-7A6B-7E4C-8CE5-CC0065E8E891}"/>
              </a:ext>
            </a:extLst>
          </p:cNvPr>
          <p:cNvGrpSpPr/>
          <p:nvPr userDrawn="1"/>
        </p:nvGrpSpPr>
        <p:grpSpPr>
          <a:xfrm>
            <a:off x="-123356" y="-234265"/>
            <a:ext cx="44156797" cy="33386933"/>
            <a:chOff x="-92517" y="-136655"/>
            <a:chExt cx="33117598" cy="19475711"/>
          </a:xfrm>
        </p:grpSpPr>
        <p:sp>
          <p:nvSpPr>
            <p:cNvPr id="12" name="Freeform 11">
              <a:extLst>
                <a:ext uri="{FF2B5EF4-FFF2-40B4-BE49-F238E27FC236}">
                  <a16:creationId xmlns:a16="http://schemas.microsoft.com/office/drawing/2014/main" id="{CE400FA3-67A4-CE48-8E05-5EACFFDB5F51}"/>
                </a:ext>
              </a:extLst>
            </p:cNvPr>
            <p:cNvSpPr/>
            <p:nvPr userDrawn="1"/>
          </p:nvSpPr>
          <p:spPr>
            <a:xfrm>
              <a:off x="-65613" y="-131317"/>
              <a:ext cx="33063791" cy="1946503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Freeform 12">
              <a:extLst>
                <a:ext uri="{FF2B5EF4-FFF2-40B4-BE49-F238E27FC236}">
                  <a16:creationId xmlns:a16="http://schemas.microsoft.com/office/drawing/2014/main" id="{FBA5B6E4-6FE9-3647-8BAF-553D0BF98949}"/>
                </a:ext>
              </a:extLst>
            </p:cNvPr>
            <p:cNvSpPr/>
            <p:nvPr userDrawn="1"/>
          </p:nvSpPr>
          <p:spPr>
            <a:xfrm flipH="1" flipV="1">
              <a:off x="-65613" y="-126309"/>
              <a:ext cx="33063790" cy="1945501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Freeform 13">
              <a:extLst>
                <a:ext uri="{FF2B5EF4-FFF2-40B4-BE49-F238E27FC236}">
                  <a16:creationId xmlns:a16="http://schemas.microsoft.com/office/drawing/2014/main" id="{A4618E25-B7F1-B14A-9563-A41B4A82884E}"/>
                </a:ext>
              </a:extLst>
            </p:cNvPr>
            <p:cNvSpPr/>
            <p:nvPr userDrawn="1"/>
          </p:nvSpPr>
          <p:spPr>
            <a:xfrm>
              <a:off x="-92517" y="-136655"/>
              <a:ext cx="33117598" cy="19475711"/>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Text Box 14">
              <a:extLst>
                <a:ext uri="{FF2B5EF4-FFF2-40B4-BE49-F238E27FC236}">
                  <a16:creationId xmlns:a16="http://schemas.microsoft.com/office/drawing/2014/main" id="{DA947DD5-4E52-F248-8993-CE076E50AC1E}"/>
                </a:ext>
              </a:extLst>
            </p:cNvPr>
            <p:cNvSpPr txBox="1">
              <a:spLocks noChangeArrowheads="1"/>
            </p:cNvSpPr>
            <p:nvPr userDrawn="1"/>
          </p:nvSpPr>
          <p:spPr bwMode="auto">
            <a:xfrm>
              <a:off x="985840" y="18574485"/>
              <a:ext cx="1885950" cy="190132"/>
            </a:xfrm>
            <a:prstGeom prst="rect">
              <a:avLst/>
            </a:prstGeom>
            <a:noFill/>
            <a:ln w="9525">
              <a:noFill/>
              <a:miter lim="800000"/>
              <a:headEnd/>
              <a:tailEnd/>
            </a:ln>
            <a:effectLst/>
          </p:spPr>
          <p:txBody>
            <a:bodyPr lIns="65180" tIns="32584" rIns="65180" bIns="32584">
              <a:spAutoFit/>
            </a:bodyPr>
            <a:lstStyle/>
            <a:p>
              <a:pPr eaLnBrk="0" hangingPunct="0">
                <a:lnSpc>
                  <a:spcPct val="65000"/>
                </a:lnSpc>
                <a:spcBef>
                  <a:spcPct val="50000"/>
                </a:spcBef>
                <a:defRPr/>
              </a:pPr>
              <a:r>
                <a:rPr lang="en-US" sz="667"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67" b="1" dirty="0">
                  <a:solidFill>
                    <a:schemeClr val="bg1">
                      <a:lumMod val="75000"/>
                    </a:schemeClr>
                  </a:solidFill>
                  <a:latin typeface="Arial" charset="0"/>
                </a:rPr>
                <a:t>www.PosterPresentations.com</a:t>
              </a:r>
            </a:p>
          </p:txBody>
        </p:sp>
      </p:grpSp>
      <p:graphicFrame>
        <p:nvGraphicFramePr>
          <p:cNvPr id="9" name="Table 8">
            <a:extLst>
              <a:ext uri="{FF2B5EF4-FFF2-40B4-BE49-F238E27FC236}">
                <a16:creationId xmlns:a16="http://schemas.microsoft.com/office/drawing/2014/main" id="{5FF55768-34E1-8A4D-A852-52581465C988}"/>
              </a:ext>
            </a:extLst>
          </p:cNvPr>
          <p:cNvGraphicFramePr>
            <a:graphicFrameLocks noGrp="1"/>
          </p:cNvGraphicFramePr>
          <p:nvPr userDrawn="1">
            <p:extLst>
              <p:ext uri="{D42A27DB-BD31-4B8C-83A1-F6EECF244321}">
                <p14:modId xmlns:p14="http://schemas.microsoft.com/office/powerpoint/2010/main" val="1021236560"/>
              </p:ext>
            </p:extLst>
          </p:nvPr>
        </p:nvGraphicFramePr>
        <p:xfrm>
          <a:off x="44395144" y="1"/>
          <a:ext cx="8136627" cy="32918398"/>
        </p:xfrm>
        <a:graphic>
          <a:graphicData uri="http://schemas.openxmlformats.org/drawingml/2006/table">
            <a:tbl>
              <a:tblPr firstRow="1" bandRow="1">
                <a:tableStyleId>{5C22544A-7EE6-4342-B048-85BDC9FD1C3A}</a:tableStyleId>
              </a:tblPr>
              <a:tblGrid>
                <a:gridCol w="4077200">
                  <a:extLst>
                    <a:ext uri="{9D8B030D-6E8A-4147-A177-3AD203B41FA5}">
                      <a16:colId xmlns:a16="http://schemas.microsoft.com/office/drawing/2014/main" val="20000"/>
                    </a:ext>
                  </a:extLst>
                </a:gridCol>
                <a:gridCol w="4059427">
                  <a:extLst>
                    <a:ext uri="{9D8B030D-6E8A-4147-A177-3AD203B41FA5}">
                      <a16:colId xmlns:a16="http://schemas.microsoft.com/office/drawing/2014/main" val="4164475170"/>
                    </a:ext>
                  </a:extLst>
                </a:gridCol>
              </a:tblGrid>
              <a:tr h="1693437">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400" b="0" spc="600" dirty="0">
                          <a:solidFill>
                            <a:srgbClr val="1F3A4E"/>
                          </a:solidFill>
                          <a:latin typeface="Arial Black" panose="020B0A04020102020204" pitchFamily="34" charset="0"/>
                        </a:rPr>
                        <a:t>QUICK START GUIDE</a:t>
                      </a:r>
                      <a:br>
                        <a:rPr lang="en-US" sz="3400" b="0" spc="600" dirty="0">
                          <a:solidFill>
                            <a:srgbClr val="1F3A4E"/>
                          </a:solidFill>
                          <a:latin typeface="Arial Black" panose="020B0A04020102020204" pitchFamily="34" charset="0"/>
                        </a:rPr>
                      </a:br>
                      <a:r>
                        <a:rPr lang="en-US" sz="2700" b="1" spc="0" dirty="0">
                          <a:solidFill>
                            <a:srgbClr val="FF0000"/>
                          </a:solidFill>
                          <a:latin typeface="Trebuchet MS" pitchFamily="34" charset="0"/>
                        </a:rPr>
                        <a:t>(THIS SIDEBAR WILL NOT PRINT)</a:t>
                      </a:r>
                      <a:endParaRPr lang="en-US" sz="3400" b="1" spc="600" dirty="0">
                        <a:solidFill>
                          <a:schemeClr val="bg1"/>
                        </a:solidFill>
                        <a:latin typeface="Trebuchet MS" pitchFamily="34" charset="0"/>
                      </a:endParaRPr>
                    </a:p>
                  </a:txBody>
                  <a:tcPr marL="243840" marR="121920" marT="235131" marB="78377">
                    <a:solidFill>
                      <a:srgbClr val="FFC000"/>
                    </a:solidFill>
                  </a:tcPr>
                </a:tc>
                <a:tc hMerge="1">
                  <a:txBody>
                    <a:bodyPr/>
                    <a:lstStyle/>
                    <a:p>
                      <a:endParaRPr lang="en-US"/>
                    </a:p>
                  </a:txBody>
                  <a:tcPr/>
                </a:tc>
                <a:extLst>
                  <a:ext uri="{0D108BD9-81ED-4DB2-BD59-A6C34878D82A}">
                    <a16:rowId xmlns:a16="http://schemas.microsoft.com/office/drawing/2014/main" val="10000"/>
                  </a:ext>
                </a:extLst>
              </a:tr>
              <a:tr h="5363582">
                <a:tc gridSpan="2">
                  <a:txBody>
                    <a:bodyPr/>
                    <a:lstStyle/>
                    <a:p>
                      <a:pPr algn="l"/>
                      <a:r>
                        <a:rPr lang="en-US" sz="24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1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1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100" dirty="0">
                        <a:solidFill>
                          <a:srgbClr val="FFC000"/>
                        </a:solidFill>
                      </a:endParaRPr>
                    </a:p>
                    <a:p>
                      <a:pPr marL="0" indent="0" algn="l" defTabSz="114300"/>
                      <a:endParaRPr lang="en-US" sz="21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1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1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1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243840" marR="121920" marT="235131" marB="78377">
                    <a:solidFill>
                      <a:schemeClr val="tx1"/>
                    </a:solidFill>
                  </a:tcPr>
                </a:tc>
                <a:tc hMerge="1">
                  <a:txBody>
                    <a:bodyPr/>
                    <a:lstStyle/>
                    <a:p>
                      <a:endParaRPr lang="en-US"/>
                    </a:p>
                  </a:txBody>
                  <a:tcPr/>
                </a:tc>
                <a:extLst>
                  <a:ext uri="{0D108BD9-81ED-4DB2-BD59-A6C34878D82A}">
                    <a16:rowId xmlns:a16="http://schemas.microsoft.com/office/drawing/2014/main" val="10001"/>
                  </a:ext>
                </a:extLst>
              </a:tr>
              <a:tr h="3536175">
                <a:tc gridSpan="2">
                  <a:txBody>
                    <a:bodyPr/>
                    <a:lstStyle/>
                    <a:p>
                      <a:r>
                        <a:rPr lang="en-US" sz="2400" b="1" dirty="0">
                          <a:solidFill>
                            <a:srgbClr val="FFC000"/>
                          </a:solidFill>
                          <a:latin typeface="Arial" panose="020B0604020202020204" pitchFamily="34" charset="0"/>
                          <a:cs typeface="Arial" panose="020B0604020202020204" pitchFamily="34" charset="0"/>
                        </a:rPr>
                        <a:t>How to change the column layout configuration</a:t>
                      </a:r>
                    </a:p>
                    <a:p>
                      <a:r>
                        <a:rPr lang="en-US" sz="21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100" dirty="0">
                          <a:solidFill>
                            <a:srgbClr val="D9D9D9"/>
                          </a:solidFill>
                          <a:latin typeface="Arial" panose="020B0604020202020204" pitchFamily="34" charset="0"/>
                          <a:cs typeface="Arial" panose="020B0604020202020204" pitchFamily="34" charset="0"/>
                        </a:rPr>
                        <a:t>You can see a tutorial here: </a:t>
                      </a:r>
                      <a:r>
                        <a:rPr lang="en-US" sz="2100" u="sng" dirty="0">
                          <a:solidFill>
                            <a:srgbClr val="FFC000"/>
                          </a:solidFill>
                          <a:latin typeface="Arial" panose="020B0604020202020204" pitchFamily="34" charset="0"/>
                          <a:cs typeface="Arial" panose="020B0604020202020204" pitchFamily="34" charset="0"/>
                        </a:rPr>
                        <a:t>https://</a:t>
                      </a:r>
                      <a:r>
                        <a:rPr lang="en-US" sz="2100" u="sng" dirty="0" err="1">
                          <a:solidFill>
                            <a:srgbClr val="FFC000"/>
                          </a:solidFill>
                          <a:latin typeface="Arial" panose="020B0604020202020204" pitchFamily="34" charset="0"/>
                          <a:cs typeface="Arial" panose="020B0604020202020204" pitchFamily="34" charset="0"/>
                        </a:rPr>
                        <a:t>www.posterpresentations.com</a:t>
                      </a:r>
                      <a:r>
                        <a:rPr lang="en-US" sz="2100" u="sng" dirty="0">
                          <a:solidFill>
                            <a:srgbClr val="FFC000"/>
                          </a:solidFill>
                          <a:latin typeface="Arial" panose="020B0604020202020204" pitchFamily="34" charset="0"/>
                          <a:cs typeface="Arial" panose="020B0604020202020204" pitchFamily="34" charset="0"/>
                        </a:rPr>
                        <a:t>/how-to-change-the-column-</a:t>
                      </a:r>
                      <a:r>
                        <a:rPr lang="en-US" sz="2100" u="sng" dirty="0" err="1">
                          <a:solidFill>
                            <a:srgbClr val="FFC000"/>
                          </a:solidFill>
                          <a:latin typeface="Arial" panose="020B0604020202020204" pitchFamily="34" charset="0"/>
                          <a:cs typeface="Arial" panose="020B0604020202020204" pitchFamily="34" charset="0"/>
                        </a:rPr>
                        <a:t>configuration.html</a:t>
                      </a:r>
                      <a:endParaRPr lang="en-US" sz="5500" u="sng" dirty="0">
                        <a:solidFill>
                          <a:srgbClr val="FFC000"/>
                        </a:solidFill>
                      </a:endParaRPr>
                    </a:p>
                  </a:txBody>
                  <a:tcPr marL="243840" marR="121920" marT="235131" marB="78377">
                    <a:solidFill>
                      <a:schemeClr val="tx1"/>
                    </a:solid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499140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100" noProof="0" dirty="0">
                        <a:solidFill>
                          <a:srgbClr val="D9D9D9"/>
                        </a:solidFill>
                        <a:latin typeface="Arial" panose="020B0604020202020204" pitchFamily="34" charset="0"/>
                        <a:cs typeface="Arial" panose="020B0604020202020204" pitchFamily="34" charset="0"/>
                      </a:endParaRPr>
                    </a:p>
                  </a:txBody>
                  <a:tcPr marL="243840" marR="121920" marT="235131" marB="78377">
                    <a:blipFill dpi="0" rotWithShape="1">
                      <a:blip r:embed="rId8">
                        <a:extLst>
                          <a:ext uri="{28A0092B-C50C-407E-A947-70E740481C1C}">
                            <a14:useLocalDpi xmlns:a14="http://schemas.microsoft.com/office/drawing/2010/main" val="0"/>
                          </a:ext>
                        </a:extLst>
                      </a:blip>
                      <a:srcRect/>
                      <a:stretch>
                        <a:fillRect/>
                      </a:stretch>
                    </a:blip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100" noProof="0" dirty="0">
                          <a:solidFill>
                            <a:srgbClr val="D9D9D9"/>
                          </a:solidFill>
                          <a:latin typeface="Arial" panose="020B0604020202020204" pitchFamily="34" charset="0"/>
                          <a:cs typeface="Arial" panose="020B0604020202020204" pitchFamily="34" charset="0"/>
                        </a:rPr>
                        <a:t>The Quick Start</a:t>
                      </a:r>
                      <a:r>
                        <a:rPr lang="en-US" sz="2100" baseline="0" noProof="0" dirty="0">
                          <a:solidFill>
                            <a:srgbClr val="D9D9D9"/>
                          </a:solidFill>
                          <a:latin typeface="Arial" panose="020B0604020202020204" pitchFamily="34" charset="0"/>
                          <a:cs typeface="Arial" panose="020B0604020202020204" pitchFamily="34" charset="0"/>
                        </a:rPr>
                        <a:t> Guides</a:t>
                      </a:r>
                      <a:r>
                        <a:rPr lang="en-US" sz="2100" noProof="0" dirty="0">
                          <a:solidFill>
                            <a:srgbClr val="D9D9D9"/>
                          </a:solidFill>
                          <a:latin typeface="Arial" panose="020B0604020202020204" pitchFamily="34" charset="0"/>
                          <a:cs typeface="Arial" panose="020B0604020202020204" pitchFamily="34" charset="0"/>
                        </a:rPr>
                        <a:t> </a:t>
                      </a:r>
                      <a:r>
                        <a:rPr lang="en-US" sz="2100" u="sng" noProof="0" dirty="0">
                          <a:solidFill>
                            <a:srgbClr val="D9D9D9"/>
                          </a:solidFill>
                          <a:latin typeface="Arial" panose="020B0604020202020204" pitchFamily="34" charset="0"/>
                          <a:cs typeface="Arial" panose="020B0604020202020204" pitchFamily="34" charset="0"/>
                        </a:rPr>
                        <a:t>are outside the template’s printable area</a:t>
                      </a:r>
                      <a:r>
                        <a:rPr lang="en-US" sz="2100" noProof="0" dirty="0">
                          <a:solidFill>
                            <a:srgbClr val="D9D9D9"/>
                          </a:solidFill>
                          <a:latin typeface="Arial" panose="020B0604020202020204" pitchFamily="34" charset="0"/>
                          <a:cs typeface="Arial" panose="020B0604020202020204" pitchFamily="34" charset="0"/>
                        </a:rPr>
                        <a:t> and they will not be on the printed poster</a:t>
                      </a:r>
                      <a:r>
                        <a:rPr lang="en-US" sz="21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1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1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1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100" baseline="0" noProof="0" dirty="0">
                          <a:solidFill>
                            <a:srgbClr val="D9D9D9"/>
                          </a:solidFill>
                          <a:latin typeface="Arial" panose="020B0604020202020204" pitchFamily="34" charset="0"/>
                          <a:cs typeface="Arial" panose="020B0604020202020204" pitchFamily="34" charset="0"/>
                        </a:rPr>
                        <a:t>To hide the guides click on the </a:t>
                      </a:r>
                      <a:r>
                        <a:rPr lang="en-US" sz="2100" b="1" baseline="0" noProof="0" dirty="0">
                          <a:solidFill>
                            <a:srgbClr val="D9D9D9"/>
                          </a:solidFill>
                          <a:latin typeface="Arial" panose="020B0604020202020204" pitchFamily="34" charset="0"/>
                          <a:cs typeface="Arial" panose="020B0604020202020204" pitchFamily="34" charset="0"/>
                        </a:rPr>
                        <a:t>Home</a:t>
                      </a:r>
                      <a:r>
                        <a:rPr lang="en-US" sz="21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100" b="1" baseline="0" noProof="0" dirty="0">
                          <a:solidFill>
                            <a:srgbClr val="D9D9D9"/>
                          </a:solidFill>
                          <a:latin typeface="Arial" panose="020B0604020202020204" pitchFamily="34" charset="0"/>
                          <a:cs typeface="Arial" panose="020B0604020202020204" pitchFamily="34" charset="0"/>
                        </a:rPr>
                        <a:t>Layout</a:t>
                      </a:r>
                      <a:r>
                        <a:rPr lang="en-US" sz="21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100" b="1" baseline="0" noProof="0" dirty="0">
                          <a:solidFill>
                            <a:srgbClr val="D9D9D9"/>
                          </a:solidFill>
                          <a:latin typeface="Arial" panose="020B0604020202020204" pitchFamily="34" charset="0"/>
                          <a:cs typeface="Arial" panose="020B0604020202020204" pitchFamily="34" charset="0"/>
                        </a:rPr>
                        <a:t>Without Guides </a:t>
                      </a:r>
                      <a:r>
                        <a:rPr lang="en-US" sz="2100" b="0" baseline="0" noProof="0" dirty="0">
                          <a:solidFill>
                            <a:srgbClr val="D9D9D9"/>
                          </a:solidFill>
                          <a:latin typeface="Arial" panose="020B0604020202020204" pitchFamily="34" charset="0"/>
                          <a:cs typeface="Arial" panose="020B0604020202020204" pitchFamily="34" charset="0"/>
                        </a:rPr>
                        <a:t>layout</a:t>
                      </a:r>
                      <a:r>
                        <a:rPr lang="en-US" sz="2100" baseline="0" noProof="0" dirty="0">
                          <a:solidFill>
                            <a:srgbClr val="D9D9D9"/>
                          </a:solidFill>
                          <a:latin typeface="Arial" panose="020B0604020202020204" pitchFamily="34" charset="0"/>
                          <a:cs typeface="Arial" panose="020B0604020202020204" pitchFamily="34" charset="0"/>
                        </a:rPr>
                        <a:t>.</a:t>
                      </a:r>
                      <a:endParaRPr lang="en-US" sz="21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100" noProof="0" dirty="0">
                        <a:solidFill>
                          <a:srgbClr val="D9D9D9"/>
                        </a:solidFill>
                        <a:latin typeface="Arial" panose="020B0604020202020204" pitchFamily="34" charset="0"/>
                        <a:cs typeface="Arial" panose="020B0604020202020204" pitchFamily="34" charset="0"/>
                      </a:endParaRPr>
                    </a:p>
                  </a:txBody>
                  <a:tcPr marL="243840" marR="121920" marT="235131" marB="78377">
                    <a:solidFill>
                      <a:srgbClr val="010101"/>
                    </a:solidFill>
                  </a:tcPr>
                </a:tc>
                <a:extLst>
                  <a:ext uri="{0D108BD9-81ED-4DB2-BD59-A6C34878D82A}">
                    <a16:rowId xmlns:a16="http://schemas.microsoft.com/office/drawing/2014/main" val="10005"/>
                  </a:ext>
                </a:extLst>
              </a:tr>
              <a:tr h="2784737">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100" noProof="0" dirty="0">
                        <a:solidFill>
                          <a:srgbClr val="D9D9D9"/>
                        </a:solidFill>
                        <a:latin typeface="Arial" panose="020B0604020202020204" pitchFamily="34" charset="0"/>
                        <a:cs typeface="Arial" panose="020B0604020202020204" pitchFamily="34" charset="0"/>
                      </a:endParaRPr>
                    </a:p>
                  </a:txBody>
                  <a:tcPr marL="243840" marR="121920" marT="235131" marB="78377">
                    <a:solidFill>
                      <a:srgbClr val="010101"/>
                    </a:solidFill>
                  </a:tcPr>
                </a:tc>
                <a:tc vMerge="1">
                  <a:txBody>
                    <a:bodyPr/>
                    <a:lstStyle/>
                    <a:p>
                      <a:endParaRPr lang="en-US"/>
                    </a:p>
                  </a:txBody>
                  <a:tcPr/>
                </a:tc>
                <a:extLst>
                  <a:ext uri="{0D108BD9-81ED-4DB2-BD59-A6C34878D82A}">
                    <a16:rowId xmlns:a16="http://schemas.microsoft.com/office/drawing/2014/main" val="1766341567"/>
                  </a:ext>
                </a:extLst>
              </a:tr>
              <a:tr h="3669130">
                <a:tc>
                  <a:txBody>
                    <a:bodyPr/>
                    <a:lstStyle/>
                    <a:p>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r>
                        <a:rPr lang="en-US" sz="2100" dirty="0">
                          <a:solidFill>
                            <a:srgbClr val="D9D9D9"/>
                          </a:solidFill>
                          <a:latin typeface="Arial" panose="020B0604020202020204" pitchFamily="34" charset="0"/>
                          <a:cs typeface="Arial" panose="020B0604020202020204" pitchFamily="34" charset="0"/>
                        </a:rPr>
                        <a:t>You can preview your poster at any time by pressing the </a:t>
                      </a:r>
                      <a:r>
                        <a:rPr lang="en-US" sz="2100" dirty="0">
                          <a:solidFill>
                            <a:srgbClr val="FFC000"/>
                          </a:solidFill>
                          <a:latin typeface="Arial" panose="020B0604020202020204" pitchFamily="34" charset="0"/>
                          <a:cs typeface="Arial" panose="020B0604020202020204" pitchFamily="34" charset="0"/>
                        </a:rPr>
                        <a:t>F5 key</a:t>
                      </a:r>
                      <a:r>
                        <a:rPr lang="en-US" sz="21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100" dirty="0">
                          <a:solidFill>
                            <a:srgbClr val="FFC000"/>
                          </a:solidFill>
                          <a:latin typeface="Arial" panose="020B0604020202020204" pitchFamily="34" charset="0"/>
                          <a:cs typeface="Arial" panose="020B0604020202020204" pitchFamily="34" charset="0"/>
                        </a:rPr>
                        <a:t>ESC key </a:t>
                      </a:r>
                      <a:r>
                        <a:rPr lang="en-US" sz="2100" dirty="0">
                          <a:solidFill>
                            <a:srgbClr val="D9D9D9"/>
                          </a:solidFill>
                          <a:latin typeface="Arial" panose="020B0604020202020204" pitchFamily="34" charset="0"/>
                          <a:cs typeface="Arial" panose="020B0604020202020204" pitchFamily="34" charset="0"/>
                        </a:rPr>
                        <a:t>to exit Preview.</a:t>
                      </a:r>
                    </a:p>
                  </a:txBody>
                  <a:tcPr marL="243840" marR="121920" marT="235131" marB="78377">
                    <a:solidFill>
                      <a:srgbClr val="010101"/>
                    </a:solidFill>
                  </a:tcPr>
                </a:tc>
                <a:tc>
                  <a:txBody>
                    <a:bodyPr/>
                    <a:lstStyle/>
                    <a:p>
                      <a:pPr algn="ctr"/>
                      <a:r>
                        <a:rPr lang="en-US" sz="11300" b="1" dirty="0">
                          <a:solidFill>
                            <a:srgbClr val="D9D9D9"/>
                          </a:solidFill>
                          <a:latin typeface="Arial" panose="020B0604020202020204" pitchFamily="34" charset="0"/>
                          <a:cs typeface="Arial" panose="020B0604020202020204" pitchFamily="34" charset="0"/>
                        </a:rPr>
                        <a:t>F5</a:t>
                      </a:r>
                      <a:r>
                        <a:rPr lang="en-US" sz="2100" baseline="0" dirty="0">
                          <a:solidFill>
                            <a:srgbClr val="D9D9D9"/>
                          </a:solidFill>
                          <a:latin typeface="Arial" panose="020B0604020202020204" pitchFamily="34" charset="0"/>
                          <a:cs typeface="Arial" panose="020B0604020202020204" pitchFamily="34" charset="0"/>
                        </a:rPr>
                        <a:t> </a:t>
                      </a:r>
                      <a:endParaRPr lang="en-US" sz="5500" dirty="0"/>
                    </a:p>
                  </a:txBody>
                  <a:tcPr marL="243840" marR="121920" marT="235131" marB="78377" anchor="ctr">
                    <a:solidFill>
                      <a:schemeClr val="tx1">
                        <a:lumMod val="95000"/>
                        <a:lumOff val="5000"/>
                      </a:schemeClr>
                    </a:solidFill>
                  </a:tcPr>
                </a:tc>
                <a:extLst>
                  <a:ext uri="{0D108BD9-81ED-4DB2-BD59-A6C34878D82A}">
                    <a16:rowId xmlns:a16="http://schemas.microsoft.com/office/drawing/2014/main" val="10006"/>
                  </a:ext>
                </a:extLst>
              </a:tr>
              <a:tr h="547051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100" noProof="0" dirty="0">
                          <a:solidFill>
                            <a:srgbClr val="D9D9D9"/>
                          </a:solidFill>
                          <a:latin typeface="Arial"/>
                          <a:cs typeface="Arial"/>
                        </a:rPr>
                        <a:t>When you are ready to have your poster printed go online to </a:t>
                      </a:r>
                      <a:r>
                        <a:rPr lang="en-US" sz="2100" noProof="0" dirty="0" err="1">
                          <a:solidFill>
                            <a:srgbClr val="FFC000"/>
                          </a:solidFill>
                          <a:latin typeface="Arial"/>
                          <a:cs typeface="Arial"/>
                        </a:rPr>
                        <a:t>PosterPresentations.com</a:t>
                      </a:r>
                      <a:r>
                        <a:rPr lang="en-US" sz="2100" noProof="0" dirty="0">
                          <a:solidFill>
                            <a:srgbClr val="D9D9D9"/>
                          </a:solidFill>
                          <a:latin typeface="Arial"/>
                          <a:cs typeface="Arial"/>
                        </a:rPr>
                        <a:t> and click on the "</a:t>
                      </a:r>
                      <a:r>
                        <a:rPr lang="en-US" sz="2100" noProof="0" dirty="0">
                          <a:solidFill>
                            <a:srgbClr val="FFC000"/>
                          </a:solidFill>
                          <a:latin typeface="Arial"/>
                          <a:cs typeface="Arial"/>
                        </a:rPr>
                        <a:t>Order Your Poster</a:t>
                      </a:r>
                      <a:r>
                        <a:rPr lang="en-US" sz="21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1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100" noProof="0" dirty="0">
                          <a:solidFill>
                            <a:srgbClr val="D9D9D9"/>
                          </a:solidFill>
                          <a:latin typeface="Arial"/>
                          <a:cs typeface="Arial"/>
                        </a:rPr>
                      </a:br>
                      <a:r>
                        <a:rPr lang="en-US" sz="2100" noProof="0" dirty="0">
                          <a:solidFill>
                            <a:srgbClr val="D9D9D9"/>
                          </a:solidFill>
                          <a:latin typeface="Arial"/>
                          <a:cs typeface="Arial"/>
                        </a:rPr>
                        <a:t>Go to </a:t>
                      </a:r>
                      <a:r>
                        <a:rPr lang="en-US" sz="2100" noProof="0" dirty="0" err="1">
                          <a:solidFill>
                            <a:srgbClr val="FFC000"/>
                          </a:solidFill>
                          <a:latin typeface="Arial"/>
                          <a:cs typeface="Arial"/>
                        </a:rPr>
                        <a:t>PosterPresentations.com</a:t>
                      </a:r>
                      <a:r>
                        <a:rPr lang="en-US" sz="2100" noProof="0" dirty="0">
                          <a:solidFill>
                            <a:srgbClr val="D9D9D9"/>
                          </a:solidFill>
                          <a:latin typeface="Arial"/>
                          <a:cs typeface="Arial"/>
                        </a:rPr>
                        <a:t> for more information.</a:t>
                      </a:r>
                    </a:p>
                  </a:txBody>
                  <a:tcPr marL="243840" marR="121920" marT="235131" marB="78377">
                    <a:solidFill>
                      <a:srgbClr val="010101"/>
                    </a:solidFill>
                  </a:tcPr>
                </a:tc>
                <a:tc hMerge="1">
                  <a:txBody>
                    <a:bodyPr/>
                    <a:lstStyle/>
                    <a:p>
                      <a:endParaRPr lang="en-US"/>
                    </a:p>
                  </a:txBody>
                  <a:tcPr/>
                </a:tc>
                <a:extLst>
                  <a:ext uri="{0D108BD9-81ED-4DB2-BD59-A6C34878D82A}">
                    <a16:rowId xmlns:a16="http://schemas.microsoft.com/office/drawing/2014/main" val="10007"/>
                  </a:ext>
                </a:extLst>
              </a:tr>
              <a:tr h="1306188">
                <a:tc gridSpan="2">
                  <a:txBody>
                    <a:bodyPr/>
                    <a:lstStyle/>
                    <a:p>
                      <a:endParaRPr lang="en-US" sz="2100" dirty="0">
                        <a:solidFill>
                          <a:srgbClr val="1F3A4E"/>
                        </a:solidFill>
                      </a:endParaRPr>
                    </a:p>
                  </a:txBody>
                  <a:tcPr marL="243840" marR="121920" marT="235131" marB="78377">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extLst>
                  <a:ext uri="{0D108BD9-81ED-4DB2-BD59-A6C34878D82A}">
                    <a16:rowId xmlns:a16="http://schemas.microsoft.com/office/drawing/2014/main" val="10008"/>
                  </a:ext>
                </a:extLst>
              </a:tr>
              <a:tr h="4103239">
                <a:tc>
                  <a:txBody>
                    <a:bodyPr/>
                    <a:lstStyle/>
                    <a:p>
                      <a:pPr>
                        <a:lnSpc>
                          <a:spcPts val="2600"/>
                        </a:lnSpc>
                      </a:pPr>
                      <a:r>
                        <a:rPr lang="en-US" sz="1900" dirty="0">
                          <a:solidFill>
                            <a:schemeClr val="bg1">
                              <a:lumMod val="85000"/>
                            </a:schemeClr>
                          </a:solidFill>
                          <a:latin typeface="Arial"/>
                          <a:cs typeface="Arial"/>
                        </a:rPr>
                        <a:t>© 2019</a:t>
                      </a:r>
                      <a:r>
                        <a:rPr lang="en-US" sz="1900" baseline="0" dirty="0">
                          <a:solidFill>
                            <a:schemeClr val="bg1">
                              <a:lumMod val="85000"/>
                            </a:schemeClr>
                          </a:solidFill>
                          <a:latin typeface="Arial"/>
                          <a:cs typeface="Arial"/>
                        </a:rPr>
                        <a:t> </a:t>
                      </a:r>
                      <a:r>
                        <a:rPr lang="en-US" sz="1900" dirty="0" err="1">
                          <a:solidFill>
                            <a:schemeClr val="bg1">
                              <a:lumMod val="85000"/>
                            </a:schemeClr>
                          </a:solidFill>
                          <a:latin typeface="Arial"/>
                          <a:cs typeface="Arial"/>
                        </a:rPr>
                        <a:t>PosterPresentations.com</a:t>
                      </a:r>
                      <a:br>
                        <a:rPr lang="en-US" sz="1900" dirty="0">
                          <a:solidFill>
                            <a:schemeClr val="bg1">
                              <a:lumMod val="85000"/>
                            </a:schemeClr>
                          </a:solidFill>
                          <a:latin typeface="Arial"/>
                          <a:cs typeface="Arial"/>
                        </a:rPr>
                      </a:br>
                      <a:r>
                        <a:rPr lang="en-US" sz="1900" dirty="0">
                          <a:solidFill>
                            <a:schemeClr val="bg1">
                              <a:lumMod val="85000"/>
                            </a:schemeClr>
                          </a:solidFill>
                          <a:latin typeface="Arial"/>
                          <a:cs typeface="Arial"/>
                        </a:rPr>
                        <a:t>2117 Fourth Street ,</a:t>
                      </a:r>
                      <a:r>
                        <a:rPr lang="en-US" sz="1900" baseline="0" dirty="0">
                          <a:solidFill>
                            <a:schemeClr val="bg1">
                              <a:lumMod val="85000"/>
                            </a:schemeClr>
                          </a:solidFill>
                          <a:latin typeface="Arial"/>
                          <a:cs typeface="Arial"/>
                        </a:rPr>
                        <a:t> STE C        </a:t>
                      </a:r>
                    </a:p>
                    <a:p>
                      <a:pPr>
                        <a:lnSpc>
                          <a:spcPts val="2600"/>
                        </a:lnSpc>
                      </a:pPr>
                      <a:r>
                        <a:rPr lang="en-US" sz="1900" baseline="0" dirty="0">
                          <a:solidFill>
                            <a:schemeClr val="bg1">
                              <a:lumMod val="85000"/>
                            </a:schemeClr>
                          </a:solidFill>
                          <a:latin typeface="Arial"/>
                          <a:cs typeface="Arial"/>
                        </a:rPr>
                        <a:t>Berkeley CA 94710 USA</a:t>
                      </a:r>
                      <a:endParaRPr lang="en-US" sz="1900" dirty="0">
                        <a:solidFill>
                          <a:schemeClr val="bg1">
                            <a:lumMod val="85000"/>
                          </a:schemeClr>
                        </a:solidFill>
                        <a:latin typeface="Arial"/>
                        <a:cs typeface="Arial"/>
                      </a:endParaRPr>
                    </a:p>
                  </a:txBody>
                  <a:tcPr marL="243840" marR="121920" marT="235131" marB="78377">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100" b="1" dirty="0">
                          <a:solidFill>
                            <a:srgbClr val="D0D0D0"/>
                          </a:solidFill>
                          <a:latin typeface="Arial"/>
                          <a:cs typeface="Arial"/>
                        </a:rPr>
                        <a:t>For complete tutorials</a:t>
                      </a:r>
                      <a:r>
                        <a:rPr lang="en-US" sz="21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900" dirty="0"/>
                    </a:p>
                  </a:txBody>
                  <a:tcPr marL="243840" marR="121920" marT="235131" marB="78377">
                    <a:solidFill>
                      <a:srgbClr val="01010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90121569"/>
      </p:ext>
    </p:extLst>
  </p:cSld>
  <p:clrMap bg1="lt1" tx1="dk1" bg2="lt2" tx2="dk2" accent1="accent1" accent2="accent2" accent3="accent3" accent4="accent4" accent5="accent5" accent6="accent6" hlink="hlink" folHlink="folHlink"/>
  <p:sldLayoutIdLst>
    <p:sldLayoutId id="2147483674" r:id="rId1"/>
  </p:sldLayoutIdLst>
  <p:txStyles>
    <p:titleStyle>
      <a:lvl1pPr algn="ctr" defTabSz="4179298" rtl="0" eaLnBrk="1" latinLnBrk="0" hangingPunct="1">
        <a:spcBef>
          <a:spcPct val="0"/>
        </a:spcBef>
        <a:buNone/>
        <a:defRPr sz="8400" kern="1200">
          <a:solidFill>
            <a:schemeClr val="bg1"/>
          </a:solidFill>
          <a:latin typeface="Trebuchet MS" pitchFamily="34" charset="0"/>
          <a:ea typeface="+mj-ea"/>
          <a:cs typeface="+mj-cs"/>
        </a:defRPr>
      </a:lvl1pPr>
    </p:titleStyle>
    <p:bodyStyle>
      <a:lvl1pPr marL="1567237" indent="-1567237" algn="l" defTabSz="4179298" rtl="0" eaLnBrk="1" latinLnBrk="0" hangingPunct="1">
        <a:spcBef>
          <a:spcPct val="20000"/>
        </a:spcBef>
        <a:buFont typeface="Arial" pitchFamily="34" charset="0"/>
        <a:buChar char="•"/>
        <a:defRPr sz="14666" kern="1200">
          <a:solidFill>
            <a:schemeClr val="tx1"/>
          </a:solidFill>
          <a:latin typeface="+mn-lt"/>
          <a:ea typeface="+mn-ea"/>
          <a:cs typeface="+mn-cs"/>
        </a:defRPr>
      </a:lvl1pPr>
      <a:lvl2pPr marL="3395680" indent="-1306030" algn="l" defTabSz="4179298"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24124" indent="-1044826" algn="l" defTabSz="4179298" rtl="0" eaLnBrk="1" latinLnBrk="0" hangingPunct="1">
        <a:spcBef>
          <a:spcPct val="20000"/>
        </a:spcBef>
        <a:buFont typeface="Arial" pitchFamily="34" charset="0"/>
        <a:buChar char="•"/>
        <a:defRPr sz="11066" kern="1200">
          <a:solidFill>
            <a:schemeClr val="tx1"/>
          </a:solidFill>
          <a:latin typeface="+mn-lt"/>
          <a:ea typeface="+mn-ea"/>
          <a:cs typeface="+mn-cs"/>
        </a:defRPr>
      </a:lvl3pPr>
      <a:lvl4pPr marL="7313774" indent="-1044826" algn="l" defTabSz="4179298"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403424" indent="-1044826" algn="l" defTabSz="4179298"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493073" indent="-1044826" algn="l" defTabSz="4179298"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582722" indent="-1044826" algn="l" defTabSz="4179298"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672372" indent="-1044826" algn="l" defTabSz="4179298"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762021" indent="-1044826" algn="l" defTabSz="4179298"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en-US"/>
      </a:defPPr>
      <a:lvl1pPr marL="0" algn="l" defTabSz="4179298" rtl="0" eaLnBrk="1" latinLnBrk="0" hangingPunct="1">
        <a:defRPr sz="8133" kern="1200">
          <a:solidFill>
            <a:schemeClr val="tx1"/>
          </a:solidFill>
          <a:latin typeface="+mn-lt"/>
          <a:ea typeface="+mn-ea"/>
          <a:cs typeface="+mn-cs"/>
        </a:defRPr>
      </a:lvl1pPr>
      <a:lvl2pPr marL="2089650" algn="l" defTabSz="4179298" rtl="0" eaLnBrk="1" latinLnBrk="0" hangingPunct="1">
        <a:defRPr sz="8133" kern="1200">
          <a:solidFill>
            <a:schemeClr val="tx1"/>
          </a:solidFill>
          <a:latin typeface="+mn-lt"/>
          <a:ea typeface="+mn-ea"/>
          <a:cs typeface="+mn-cs"/>
        </a:defRPr>
      </a:lvl2pPr>
      <a:lvl3pPr marL="4179298" algn="l" defTabSz="4179298" rtl="0" eaLnBrk="1" latinLnBrk="0" hangingPunct="1">
        <a:defRPr sz="8133" kern="1200">
          <a:solidFill>
            <a:schemeClr val="tx1"/>
          </a:solidFill>
          <a:latin typeface="+mn-lt"/>
          <a:ea typeface="+mn-ea"/>
          <a:cs typeface="+mn-cs"/>
        </a:defRPr>
      </a:lvl3pPr>
      <a:lvl4pPr marL="6268949" algn="l" defTabSz="4179298" rtl="0" eaLnBrk="1" latinLnBrk="0" hangingPunct="1">
        <a:defRPr sz="8133" kern="1200">
          <a:solidFill>
            <a:schemeClr val="tx1"/>
          </a:solidFill>
          <a:latin typeface="+mn-lt"/>
          <a:ea typeface="+mn-ea"/>
          <a:cs typeface="+mn-cs"/>
        </a:defRPr>
      </a:lvl4pPr>
      <a:lvl5pPr marL="8358598" algn="l" defTabSz="4179298" rtl="0" eaLnBrk="1" latinLnBrk="0" hangingPunct="1">
        <a:defRPr sz="8133" kern="1200">
          <a:solidFill>
            <a:schemeClr val="tx1"/>
          </a:solidFill>
          <a:latin typeface="+mn-lt"/>
          <a:ea typeface="+mn-ea"/>
          <a:cs typeface="+mn-cs"/>
        </a:defRPr>
      </a:lvl5pPr>
      <a:lvl6pPr marL="10448248" algn="l" defTabSz="4179298" rtl="0" eaLnBrk="1" latinLnBrk="0" hangingPunct="1">
        <a:defRPr sz="8133" kern="1200">
          <a:solidFill>
            <a:schemeClr val="tx1"/>
          </a:solidFill>
          <a:latin typeface="+mn-lt"/>
          <a:ea typeface="+mn-ea"/>
          <a:cs typeface="+mn-cs"/>
        </a:defRPr>
      </a:lvl6pPr>
      <a:lvl7pPr marL="12537899" algn="l" defTabSz="4179298" rtl="0" eaLnBrk="1" latinLnBrk="0" hangingPunct="1">
        <a:defRPr sz="8133" kern="1200">
          <a:solidFill>
            <a:schemeClr val="tx1"/>
          </a:solidFill>
          <a:latin typeface="+mn-lt"/>
          <a:ea typeface="+mn-ea"/>
          <a:cs typeface="+mn-cs"/>
        </a:defRPr>
      </a:lvl7pPr>
      <a:lvl8pPr marL="14627548" algn="l" defTabSz="4179298" rtl="0" eaLnBrk="1" latinLnBrk="0" hangingPunct="1">
        <a:defRPr sz="8133" kern="1200">
          <a:solidFill>
            <a:schemeClr val="tx1"/>
          </a:solidFill>
          <a:latin typeface="+mn-lt"/>
          <a:ea typeface="+mn-ea"/>
          <a:cs typeface="+mn-cs"/>
        </a:defRPr>
      </a:lvl8pPr>
      <a:lvl9pPr marL="16717198" algn="l" defTabSz="4179298" rtl="0" eaLnBrk="1" latinLnBrk="0" hangingPunct="1">
        <a:defRPr sz="81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hyperlink" Target="https://www.kaggle.com/datasets/rabieelkharoua/predict-pet-adoption-status-dataset" TargetMode="Externa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images.google.com/" TargetMode="External"/><Relationship Id="rId11" Type="http://schemas.openxmlformats.org/officeDocument/2006/relationships/image" Target="../media/image11.png"/><Relationship Id="rId5" Type="http://schemas.openxmlformats.org/officeDocument/2006/relationships/hyperlink" Target="https://chatgpt.com/" TargetMode="External"/><Relationship Id="rId10" Type="http://schemas.openxmlformats.org/officeDocument/2006/relationships/image" Target="../media/image10.png"/><Relationship Id="rId4" Type="http://schemas.openxmlformats.org/officeDocument/2006/relationships/hyperlink" Target="file:///C:\Users\test\OneDrive\Desktop\PetAdoption.html" TargetMode="External"/><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4D3625F-4ED3-3E95-0077-87A3021E35EE}"/>
              </a:ext>
            </a:extLst>
          </p:cNvPr>
          <p:cNvSpPr>
            <a:spLocks/>
          </p:cNvSpPr>
          <p:nvPr/>
        </p:nvSpPr>
        <p:spPr bwMode="auto">
          <a:xfrm>
            <a:off x="0" y="-91136"/>
            <a:ext cx="43891200" cy="4849823"/>
          </a:xfrm>
          <a:custGeom>
            <a:avLst/>
            <a:gdLst>
              <a:gd name="T0" fmla="*/ 0 w 31660"/>
              <a:gd name="T1" fmla="*/ 4440 h 4441"/>
              <a:gd name="T2" fmla="*/ 31659 w 31660"/>
              <a:gd name="T3" fmla="*/ 4440 h 4441"/>
              <a:gd name="T4" fmla="*/ 31659 w 31660"/>
              <a:gd name="T5" fmla="*/ 0 h 4441"/>
              <a:gd name="T6" fmla="*/ 0 w 31660"/>
              <a:gd name="T7" fmla="*/ 0 h 4441"/>
              <a:gd name="T8" fmla="*/ 0 w 31660"/>
              <a:gd name="T9" fmla="*/ 4440 h 4441"/>
            </a:gdLst>
            <a:ahLst/>
            <a:cxnLst>
              <a:cxn ang="0">
                <a:pos x="T0" y="T1"/>
              </a:cxn>
              <a:cxn ang="0">
                <a:pos x="T2" y="T3"/>
              </a:cxn>
              <a:cxn ang="0">
                <a:pos x="T4" y="T5"/>
              </a:cxn>
              <a:cxn ang="0">
                <a:pos x="T6" y="T7"/>
              </a:cxn>
              <a:cxn ang="0">
                <a:pos x="T8" y="T9"/>
              </a:cxn>
            </a:cxnLst>
            <a:rect l="0" t="0" r="r" b="b"/>
            <a:pathLst>
              <a:path w="31660" h="4441">
                <a:moveTo>
                  <a:pt x="0" y="4440"/>
                </a:moveTo>
                <a:lnTo>
                  <a:pt x="31659" y="4440"/>
                </a:lnTo>
                <a:lnTo>
                  <a:pt x="31659" y="0"/>
                </a:lnTo>
                <a:lnTo>
                  <a:pt x="0" y="0"/>
                </a:lnTo>
                <a:lnTo>
                  <a:pt x="0" y="4440"/>
                </a:lnTo>
                <a:close/>
              </a:path>
            </a:pathLst>
          </a:custGeom>
          <a:solidFill>
            <a:srgbClr val="941100"/>
          </a:solidFill>
          <a:ln>
            <a:noFill/>
          </a:ln>
        </p:spPr>
        <p:txBody>
          <a:bodyPr rot="0" vert="horz" wrap="square" lIns="91440" tIns="45720" rIns="91440" bIns="45720" anchor="t" anchorCtr="0" upright="1">
            <a:noAutofit/>
          </a:bodyPr>
          <a:lstStyle/>
          <a:p>
            <a:endParaRPr lang="en-US">
              <a:solidFill>
                <a:srgbClr val="941100"/>
              </a:solidFill>
            </a:endParaRPr>
          </a:p>
        </p:txBody>
      </p:sp>
      <p:sp>
        <p:nvSpPr>
          <p:cNvPr id="9" name="Freeform 8">
            <a:extLst>
              <a:ext uri="{FF2B5EF4-FFF2-40B4-BE49-F238E27FC236}">
                <a16:creationId xmlns:a16="http://schemas.microsoft.com/office/drawing/2014/main" id="{D2775447-62B0-3EA2-8AE8-7AD7825931BA}"/>
              </a:ext>
            </a:extLst>
          </p:cNvPr>
          <p:cNvSpPr>
            <a:spLocks/>
          </p:cNvSpPr>
          <p:nvPr/>
        </p:nvSpPr>
        <p:spPr bwMode="auto">
          <a:xfrm flipV="1">
            <a:off x="0" y="4534136"/>
            <a:ext cx="43891200" cy="444787"/>
          </a:xfrm>
          <a:custGeom>
            <a:avLst/>
            <a:gdLst>
              <a:gd name="T0" fmla="*/ 0 w 31660"/>
              <a:gd name="T1" fmla="*/ 220 h 221"/>
              <a:gd name="T2" fmla="*/ 31659 w 31660"/>
              <a:gd name="T3" fmla="*/ 220 h 221"/>
              <a:gd name="T4" fmla="*/ 31659 w 31660"/>
              <a:gd name="T5" fmla="*/ 0 h 221"/>
              <a:gd name="T6" fmla="*/ 0 w 31660"/>
              <a:gd name="T7" fmla="*/ 0 h 221"/>
              <a:gd name="T8" fmla="*/ 0 w 31660"/>
              <a:gd name="T9" fmla="*/ 220 h 221"/>
            </a:gdLst>
            <a:ahLst/>
            <a:cxnLst>
              <a:cxn ang="0">
                <a:pos x="T0" y="T1"/>
              </a:cxn>
              <a:cxn ang="0">
                <a:pos x="T2" y="T3"/>
              </a:cxn>
              <a:cxn ang="0">
                <a:pos x="T4" y="T5"/>
              </a:cxn>
              <a:cxn ang="0">
                <a:pos x="T6" y="T7"/>
              </a:cxn>
              <a:cxn ang="0">
                <a:pos x="T8" y="T9"/>
              </a:cxn>
            </a:cxnLst>
            <a:rect l="0" t="0" r="r" b="b"/>
            <a:pathLst>
              <a:path w="31660" h="221">
                <a:moveTo>
                  <a:pt x="0" y="220"/>
                </a:moveTo>
                <a:lnTo>
                  <a:pt x="31659" y="220"/>
                </a:lnTo>
                <a:lnTo>
                  <a:pt x="31659" y="0"/>
                </a:lnTo>
                <a:lnTo>
                  <a:pt x="0" y="0"/>
                </a:lnTo>
                <a:lnTo>
                  <a:pt x="0" y="220"/>
                </a:lnTo>
                <a:close/>
              </a:path>
            </a:pathLst>
          </a:custGeom>
          <a:solidFill>
            <a:srgbClr val="941100">
              <a:alpha val="61961"/>
            </a:srgbClr>
          </a:solidFill>
          <a:ln>
            <a:noFill/>
          </a:ln>
        </p:spPr>
        <p:txBody>
          <a:bodyPr rot="0" vert="horz" wrap="square" lIns="91440" tIns="45720" rIns="91440" bIns="45720" anchor="t" anchorCtr="0" upright="1">
            <a:noAutofit/>
          </a:bodyPr>
          <a:lstStyle/>
          <a:p>
            <a:endParaRPr lang="en-US"/>
          </a:p>
        </p:txBody>
      </p:sp>
      <p:sp>
        <p:nvSpPr>
          <p:cNvPr id="3046" name="TextBox 3">
            <a:extLst>
              <a:ext uri="{FF2B5EF4-FFF2-40B4-BE49-F238E27FC236}">
                <a16:creationId xmlns:a16="http://schemas.microsoft.com/office/drawing/2014/main" id="{D41650F8-7ABE-66A1-248D-7A502DC2E1F2}"/>
              </a:ext>
            </a:extLst>
          </p:cNvPr>
          <p:cNvSpPr txBox="1">
            <a:spLocks noChangeArrowheads="1"/>
          </p:cNvSpPr>
          <p:nvPr/>
        </p:nvSpPr>
        <p:spPr bwMode="auto">
          <a:xfrm>
            <a:off x="565448" y="6678620"/>
            <a:ext cx="9829800" cy="5822107"/>
          </a:xfrm>
          <a:prstGeom prst="rect">
            <a:avLst/>
          </a:prstGeom>
          <a:solidFill>
            <a:schemeClr val="bg1">
              <a:alpha val="63000"/>
            </a:schemeClr>
          </a:solidFill>
          <a:ln>
            <a:noFill/>
          </a:ln>
          <a:effectLst/>
        </p:spPr>
        <p:txBody>
          <a:bodyPr>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4600"/>
              </a:lnSpc>
              <a:spcAft>
                <a:spcPts val="1200"/>
              </a:spcAft>
            </a:pPr>
            <a:r>
              <a:rPr lang="en-US" sz="6000" b="1" dirty="0">
                <a:solidFill>
                  <a:srgbClr val="941100"/>
                </a:solidFill>
                <a:latin typeface="Arial" panose="020B0604020202020204" pitchFamily="34" charset="0"/>
                <a:cs typeface="Arial" panose="020B0604020202020204" pitchFamily="34" charset="0"/>
              </a:rPr>
              <a:t>Introduction</a:t>
            </a:r>
          </a:p>
          <a:p>
            <a:pPr>
              <a:spcBef>
                <a:spcPts val="0"/>
              </a:spcBef>
            </a:pPr>
            <a:r>
              <a:rPr lang="en-US" sz="3600" dirty="0">
                <a:latin typeface="Arial" panose="020B0604020202020204" pitchFamily="34" charset="0"/>
                <a:cs typeface="Arial" panose="020B0604020202020204" pitchFamily="34" charset="0"/>
              </a:rPr>
              <a:t>	Pet adoption is a compassionate and fulfilling way to bring a new furry friend into your home. By adopting a pet, you not only provide a loving home to an animal in need but also contribute to reducing the number of homeless pets and the overpopulation in shelters. Adopting a pet from a shelter or rescue organization is a responsible choice that offers numerous benefits both for the pet and the adopter.</a:t>
            </a:r>
            <a:endParaRPr lang="en-US" altLang="en-US" sz="3600" dirty="0">
              <a:solidFill>
                <a:schemeClr val="bg2">
                  <a:lumMod val="50000"/>
                </a:schemeClr>
              </a:solidFill>
              <a:latin typeface="Arial" panose="020B0604020202020204" pitchFamily="34" charset="0"/>
              <a:ea typeface="Arial" charset="0"/>
              <a:cs typeface="Arial" panose="020B0604020202020204" pitchFamily="34" charset="0"/>
            </a:endParaRPr>
          </a:p>
        </p:txBody>
      </p:sp>
      <p:sp>
        <p:nvSpPr>
          <p:cNvPr id="3050" name="TextBox 3049">
            <a:extLst>
              <a:ext uri="{FF2B5EF4-FFF2-40B4-BE49-F238E27FC236}">
                <a16:creationId xmlns:a16="http://schemas.microsoft.com/office/drawing/2014/main" id="{60803AE2-D2BE-0B7A-5607-1CC5DE00BC34}"/>
              </a:ext>
            </a:extLst>
          </p:cNvPr>
          <p:cNvSpPr txBox="1"/>
          <p:nvPr/>
        </p:nvSpPr>
        <p:spPr>
          <a:xfrm>
            <a:off x="543656" y="12557484"/>
            <a:ext cx="9714350" cy="3615029"/>
          </a:xfrm>
          <a:prstGeom prst="rect">
            <a:avLst/>
          </a:prstGeom>
          <a:solidFill>
            <a:schemeClr val="bg1">
              <a:alpha val="63000"/>
            </a:schemeClr>
          </a:solidFill>
          <a:effectLst/>
        </p:spPr>
        <p:txBody>
          <a:bodyPr wrap="square">
            <a:spAutoFit/>
          </a:bodyPr>
          <a:lstStyle/>
          <a:p>
            <a:pPr>
              <a:spcAft>
                <a:spcPts val="1200"/>
              </a:spcAft>
              <a:defRPr/>
            </a:pPr>
            <a:r>
              <a:rPr lang="en-US" sz="3600" b="1" dirty="0">
                <a:solidFill>
                  <a:srgbClr val="941100"/>
                </a:solidFill>
                <a:latin typeface="Arial" panose="020B0604020202020204" pitchFamily="34" charset="0"/>
                <a:cs typeface="Arial" panose="020B0604020202020204" pitchFamily="34" charset="0"/>
              </a:rPr>
              <a:t>	Methods:</a:t>
            </a:r>
          </a:p>
          <a:p>
            <a:pPr marL="571500" indent="-571500">
              <a:spcAft>
                <a:spcPts val="1200"/>
              </a:spcAft>
              <a:buFont typeface="Arial" panose="020B0604020202020204" pitchFamily="34" charset="0"/>
              <a:buChar char="•"/>
              <a:defRPr/>
            </a:pPr>
            <a:r>
              <a:rPr lang="en-US" sz="3600" dirty="0">
                <a:latin typeface="Arial" panose="020B0604020202020204" pitchFamily="34" charset="0"/>
                <a:cs typeface="Arial" panose="020B0604020202020204" pitchFamily="34" charset="0"/>
              </a:rPr>
              <a:t>Preprocessing the data</a:t>
            </a:r>
          </a:p>
          <a:p>
            <a:pPr marL="571500" indent="-571500">
              <a:spcAft>
                <a:spcPts val="1200"/>
              </a:spcAft>
              <a:buFont typeface="Arial" panose="020B0604020202020204" pitchFamily="34" charset="0"/>
              <a:buChar char="•"/>
              <a:defRPr/>
            </a:pPr>
            <a:r>
              <a:rPr lang="en-US" sz="3600" dirty="0">
                <a:latin typeface="Arial" panose="020B0604020202020204" pitchFamily="34" charset="0"/>
                <a:cs typeface="Arial" panose="020B0604020202020204" pitchFamily="34" charset="0"/>
              </a:rPr>
              <a:t>Exploratory data analysis</a:t>
            </a:r>
          </a:p>
          <a:p>
            <a:pPr marL="571500" indent="-571500">
              <a:spcAft>
                <a:spcPts val="1200"/>
              </a:spcAft>
              <a:buFont typeface="Arial" panose="020B0604020202020204" pitchFamily="34" charset="0"/>
              <a:buChar char="•"/>
              <a:defRPr/>
            </a:pPr>
            <a:r>
              <a:rPr lang="en-US" sz="3600" dirty="0">
                <a:latin typeface="Arial" panose="020B0604020202020204" pitchFamily="34" charset="0"/>
                <a:cs typeface="Arial" panose="020B0604020202020204" pitchFamily="34" charset="0"/>
              </a:rPr>
              <a:t>Splitting the data</a:t>
            </a:r>
          </a:p>
          <a:p>
            <a:pPr marL="571500" indent="-571500">
              <a:spcAft>
                <a:spcPts val="1200"/>
              </a:spcAft>
              <a:buFont typeface="Arial" panose="020B0604020202020204" pitchFamily="34" charset="0"/>
              <a:buChar char="•"/>
              <a:defRPr/>
            </a:pPr>
            <a:r>
              <a:rPr lang="en-US" sz="3600" dirty="0">
                <a:latin typeface="Arial" panose="020B0604020202020204" pitchFamily="34" charset="0"/>
                <a:cs typeface="Arial" panose="020B0604020202020204" pitchFamily="34" charset="0"/>
              </a:rPr>
              <a:t>Model training and selection</a:t>
            </a:r>
          </a:p>
        </p:txBody>
      </p:sp>
      <p:sp>
        <p:nvSpPr>
          <p:cNvPr id="3054" name="TextBox 3053">
            <a:extLst>
              <a:ext uri="{FF2B5EF4-FFF2-40B4-BE49-F238E27FC236}">
                <a16:creationId xmlns:a16="http://schemas.microsoft.com/office/drawing/2014/main" id="{BAEF5170-DA16-085C-592C-D45ADFD5C609}"/>
              </a:ext>
            </a:extLst>
          </p:cNvPr>
          <p:cNvSpPr txBox="1"/>
          <p:nvPr/>
        </p:nvSpPr>
        <p:spPr>
          <a:xfrm>
            <a:off x="489033" y="22639484"/>
            <a:ext cx="9524056" cy="9453870"/>
          </a:xfrm>
          <a:prstGeom prst="rect">
            <a:avLst/>
          </a:prstGeom>
          <a:solidFill>
            <a:schemeClr val="bg1">
              <a:alpha val="63000"/>
            </a:schemeClr>
          </a:solidFill>
          <a:effectLst/>
        </p:spPr>
        <p:txBody>
          <a:bodyPr wrap="square">
            <a:spAutoFit/>
          </a:bodyPr>
          <a:lstStyle/>
          <a:p>
            <a:pPr>
              <a:lnSpc>
                <a:spcPts val="4600"/>
              </a:lnSpc>
              <a:spcAft>
                <a:spcPts val="1200"/>
              </a:spcAft>
              <a:defRPr/>
            </a:pPr>
            <a:r>
              <a:rPr lang="en-US" sz="6000" b="1" dirty="0">
                <a:solidFill>
                  <a:srgbClr val="941100"/>
                </a:solidFill>
                <a:latin typeface="Arial" panose="020B0604020202020204" pitchFamily="34" charset="0"/>
                <a:cs typeface="Arial" panose="020B0604020202020204" pitchFamily="34" charset="0"/>
              </a:rPr>
              <a:t>The Dataset</a:t>
            </a:r>
          </a:p>
          <a:p>
            <a:pPr>
              <a:spcAft>
                <a:spcPts val="1200"/>
              </a:spcAft>
              <a:defRPr/>
            </a:pPr>
            <a:r>
              <a:rPr lang="en-US" sz="3600" dirty="0">
                <a:latin typeface="Arial" panose="020B0604020202020204" pitchFamily="34" charset="0"/>
                <a:cs typeface="Arial" panose="020B0604020202020204" pitchFamily="34" charset="0"/>
              </a:rPr>
              <a:t>	</a:t>
            </a:r>
            <a:r>
              <a:rPr lang="en-US" sz="3600" b="0" i="0" dirty="0">
                <a:effectLst/>
                <a:highlight>
                  <a:srgbClr val="FFFFFF"/>
                </a:highlight>
                <a:latin typeface="Arial" panose="020B0604020202020204" pitchFamily="34" charset="0"/>
                <a:cs typeface="Arial" panose="020B0604020202020204" pitchFamily="34" charset="0"/>
              </a:rPr>
              <a:t>The Pet Adoption Dataset provides a comprehensive look into various factors that can influence the likelihood of a pet being adopted from a shelter. This dataset includes detailed information about pets available for adoption, covering various characteristics and attributes. There where significantly less results for pets unlikely to be adopted than likely. One column was removed from the data because it did not affect </a:t>
            </a:r>
            <a:r>
              <a:rPr lang="en-US" sz="3600" dirty="0">
                <a:highlight>
                  <a:srgbClr val="FFFFFF"/>
                </a:highlight>
                <a:latin typeface="Arial" panose="020B0604020202020204" pitchFamily="34" charset="0"/>
                <a:cs typeface="Arial" panose="020B0604020202020204" pitchFamily="34" charset="0"/>
              </a:rPr>
              <a:t>the result in any way..</a:t>
            </a:r>
          </a:p>
          <a:p>
            <a:pPr>
              <a:spcAft>
                <a:spcPts val="1200"/>
              </a:spcAft>
              <a:defRPr/>
            </a:pPr>
            <a:r>
              <a:rPr lang="en-US" sz="3600" b="1" dirty="0">
                <a:solidFill>
                  <a:srgbClr val="941100"/>
                </a:solidFill>
                <a:latin typeface="Arial" panose="020B0604020202020204" pitchFamily="34" charset="0"/>
                <a:cs typeface="Arial" panose="020B0604020202020204" pitchFamily="34" charset="0"/>
              </a:rPr>
              <a:t>	Independent Variables:</a:t>
            </a:r>
          </a:p>
          <a:p>
            <a:pPr algn="l" fontAlgn="base">
              <a:buFont typeface="+mj-lt"/>
              <a:buAutoNum type="arabicPeriod"/>
            </a:pPr>
            <a:r>
              <a:rPr lang="en-US" sz="3600" b="1" i="0" dirty="0" err="1">
                <a:solidFill>
                  <a:srgbClr val="3C4043"/>
                </a:solidFill>
                <a:effectLst/>
                <a:latin typeface="inherit"/>
              </a:rPr>
              <a:t>PetID</a:t>
            </a:r>
            <a:r>
              <a:rPr lang="en-US" sz="3600" b="1" i="0" dirty="0">
                <a:solidFill>
                  <a:srgbClr val="3C4043"/>
                </a:solidFill>
                <a:effectLst/>
                <a:latin typeface="inherit"/>
              </a:rPr>
              <a:t> </a:t>
            </a:r>
            <a:r>
              <a:rPr lang="en-US" sz="3600" i="0" dirty="0">
                <a:solidFill>
                  <a:srgbClr val="3C4043"/>
                </a:solidFill>
                <a:effectLst/>
                <a:latin typeface="inherit"/>
              </a:rPr>
              <a:t>(removed)</a:t>
            </a:r>
          </a:p>
          <a:p>
            <a:pPr algn="l" fontAlgn="base">
              <a:buFont typeface="+mj-lt"/>
              <a:buAutoNum type="arabicPeriod"/>
            </a:pPr>
            <a:r>
              <a:rPr lang="en-US" sz="3600" b="1" i="0" dirty="0" err="1">
                <a:solidFill>
                  <a:srgbClr val="3C4043"/>
                </a:solidFill>
                <a:effectLst/>
                <a:latin typeface="inherit"/>
              </a:rPr>
              <a:t>PetType</a:t>
            </a:r>
            <a:r>
              <a:rPr lang="en-US" sz="3600" b="1" i="0" dirty="0">
                <a:solidFill>
                  <a:srgbClr val="3C4043"/>
                </a:solidFill>
                <a:effectLst/>
                <a:latin typeface="inherit"/>
              </a:rPr>
              <a:t> </a:t>
            </a:r>
            <a:r>
              <a:rPr lang="en-US" sz="3600" i="0" dirty="0">
                <a:solidFill>
                  <a:srgbClr val="3C4043"/>
                </a:solidFill>
                <a:effectLst/>
                <a:latin typeface="inherit"/>
              </a:rPr>
              <a:t>(nominal)</a:t>
            </a:r>
          </a:p>
          <a:p>
            <a:pPr algn="l" fontAlgn="base">
              <a:buFont typeface="+mj-lt"/>
              <a:buAutoNum type="arabicPeriod"/>
            </a:pPr>
            <a:r>
              <a:rPr lang="en-US" sz="3600" b="1" i="0" dirty="0">
                <a:solidFill>
                  <a:srgbClr val="3C4043"/>
                </a:solidFill>
                <a:effectLst/>
                <a:latin typeface="inherit"/>
              </a:rPr>
              <a:t>Breed (</a:t>
            </a:r>
            <a:r>
              <a:rPr lang="en-US" sz="3600" i="0" dirty="0">
                <a:solidFill>
                  <a:srgbClr val="3C4043"/>
                </a:solidFill>
                <a:effectLst/>
                <a:latin typeface="inherit"/>
              </a:rPr>
              <a:t>nominal)</a:t>
            </a:r>
          </a:p>
        </p:txBody>
      </p:sp>
      <p:sp>
        <p:nvSpPr>
          <p:cNvPr id="3066" name="TextBox 3065">
            <a:extLst>
              <a:ext uri="{FF2B5EF4-FFF2-40B4-BE49-F238E27FC236}">
                <a16:creationId xmlns:a16="http://schemas.microsoft.com/office/drawing/2014/main" id="{ECEB9256-4DBD-A3A5-FC68-4E0DCAA0366F}"/>
              </a:ext>
            </a:extLst>
          </p:cNvPr>
          <p:cNvSpPr txBox="1"/>
          <p:nvPr/>
        </p:nvSpPr>
        <p:spPr>
          <a:xfrm flipH="1">
            <a:off x="11009603" y="7635239"/>
            <a:ext cx="191798" cy="4746741"/>
          </a:xfrm>
          <a:prstGeom prst="rect">
            <a:avLst/>
          </a:prstGeom>
          <a:noFill/>
        </p:spPr>
        <p:txBody>
          <a:bodyPr wrap="square" rtlCol="0">
            <a:spAutoFit/>
          </a:bodyPr>
          <a:lstStyle/>
          <a:p>
            <a:endParaRPr lang="en-US" dirty="0"/>
          </a:p>
        </p:txBody>
      </p:sp>
      <p:sp>
        <p:nvSpPr>
          <p:cNvPr id="3079" name="TextBox 3078">
            <a:extLst>
              <a:ext uri="{FF2B5EF4-FFF2-40B4-BE49-F238E27FC236}">
                <a16:creationId xmlns:a16="http://schemas.microsoft.com/office/drawing/2014/main" id="{936A4C19-14EA-224A-BA3F-FC3D5B937D63}"/>
              </a:ext>
            </a:extLst>
          </p:cNvPr>
          <p:cNvSpPr txBox="1"/>
          <p:nvPr/>
        </p:nvSpPr>
        <p:spPr>
          <a:xfrm>
            <a:off x="21515737" y="16965998"/>
            <a:ext cx="9829800" cy="3307252"/>
          </a:xfrm>
          <a:prstGeom prst="rect">
            <a:avLst/>
          </a:prstGeom>
          <a:solidFill>
            <a:schemeClr val="bg1">
              <a:alpha val="63000"/>
            </a:schemeClr>
          </a:solidFill>
          <a:effectLst/>
        </p:spPr>
        <p:txBody>
          <a:bodyPr>
            <a:spAutoFit/>
          </a:bodyPr>
          <a:lstStyle/>
          <a:p>
            <a:pPr>
              <a:lnSpc>
                <a:spcPts val="4600"/>
              </a:lnSpc>
              <a:spcAft>
                <a:spcPts val="1200"/>
              </a:spcAft>
              <a:defRPr/>
            </a:pPr>
            <a:r>
              <a:rPr lang="en-US" sz="6000" b="1" dirty="0">
                <a:solidFill>
                  <a:srgbClr val="941100"/>
                </a:solidFill>
                <a:latin typeface="Arial" panose="020B0604020202020204" pitchFamily="34" charset="0"/>
                <a:cs typeface="Arial" panose="020B0604020202020204" pitchFamily="34" charset="0"/>
              </a:rPr>
              <a:t>Results &amp; Conclusion</a:t>
            </a:r>
          </a:p>
          <a:p>
            <a:pPr>
              <a:lnSpc>
                <a:spcPts val="4600"/>
              </a:lnSpc>
              <a:spcAft>
                <a:spcPts val="1200"/>
              </a:spcAft>
              <a:defRPr/>
            </a:pPr>
            <a:r>
              <a:rPr lang="en-US" sz="3600" b="1" dirty="0">
                <a:solidFill>
                  <a:schemeClr val="bg2">
                    <a:lumMod val="50000"/>
                  </a:schemeClr>
                </a:solidFill>
                <a:latin typeface="Arial" charset="0"/>
                <a:cs typeface="Arial" charset="0"/>
              </a:rPr>
              <a:t>	</a:t>
            </a:r>
            <a:r>
              <a:rPr lang="en-US" sz="3600" dirty="0">
                <a:latin typeface="Arial" charset="0"/>
                <a:cs typeface="Arial" charset="0"/>
              </a:rPr>
              <a:t>After running all the models, the most efficient one that was not overfitting the data was the </a:t>
            </a:r>
            <a:r>
              <a:rPr lang="en-US" sz="3600" b="1" dirty="0">
                <a:latin typeface="Arial" charset="0"/>
                <a:cs typeface="Arial" charset="0"/>
              </a:rPr>
              <a:t>Tuned Decision Tree</a:t>
            </a:r>
            <a:r>
              <a:rPr lang="en-US" sz="3600" dirty="0">
                <a:latin typeface="Arial" charset="0"/>
                <a:cs typeface="Arial" charset="0"/>
              </a:rPr>
              <a:t>.</a:t>
            </a:r>
          </a:p>
          <a:p>
            <a:pPr>
              <a:lnSpc>
                <a:spcPts val="4600"/>
              </a:lnSpc>
              <a:spcAft>
                <a:spcPts val="1200"/>
              </a:spcAft>
              <a:defRPr/>
            </a:pPr>
            <a:r>
              <a:rPr lang="en-US" sz="3600" dirty="0">
                <a:latin typeface="Arial" charset="0"/>
                <a:cs typeface="Arial" charset="0"/>
              </a:rPr>
              <a:t>	</a:t>
            </a:r>
          </a:p>
        </p:txBody>
      </p:sp>
      <p:sp>
        <p:nvSpPr>
          <p:cNvPr id="3081" name="TextBox 3080">
            <a:extLst>
              <a:ext uri="{FF2B5EF4-FFF2-40B4-BE49-F238E27FC236}">
                <a16:creationId xmlns:a16="http://schemas.microsoft.com/office/drawing/2014/main" id="{8CB897A9-DC42-3C51-CD05-AF8685ACD5C5}"/>
              </a:ext>
            </a:extLst>
          </p:cNvPr>
          <p:cNvSpPr txBox="1"/>
          <p:nvPr/>
        </p:nvSpPr>
        <p:spPr>
          <a:xfrm>
            <a:off x="21515088" y="7635239"/>
            <a:ext cx="9784080" cy="8545929"/>
          </a:xfrm>
          <a:prstGeom prst="rect">
            <a:avLst/>
          </a:prstGeom>
          <a:solidFill>
            <a:schemeClr val="bg1">
              <a:alpha val="63000"/>
            </a:schemeClr>
          </a:solidFill>
          <a:effectLst/>
        </p:spPr>
        <p:txBody>
          <a:bodyPr wrap="square">
            <a:spAutoFit/>
          </a:bodyPr>
          <a:lstStyle/>
          <a:p>
            <a:pPr>
              <a:lnSpc>
                <a:spcPts val="4600"/>
              </a:lnSpc>
              <a:spcAft>
                <a:spcPts val="1200"/>
              </a:spcAft>
              <a:defRPr/>
            </a:pPr>
            <a:r>
              <a:rPr lang="en-US" sz="6000" b="1" dirty="0">
                <a:solidFill>
                  <a:srgbClr val="941100"/>
                </a:solidFill>
                <a:latin typeface="Arial" panose="020B0604020202020204" pitchFamily="34" charset="0"/>
                <a:cs typeface="Arial" panose="020B0604020202020204" pitchFamily="34" charset="0"/>
              </a:rPr>
              <a:t>Machine Learning Models</a:t>
            </a:r>
          </a:p>
          <a:p>
            <a:pPr>
              <a:spcBef>
                <a:spcPts val="0"/>
              </a:spcBef>
              <a:spcAft>
                <a:spcPts val="1800"/>
              </a:spcAft>
              <a:defRPr/>
            </a:pPr>
            <a:r>
              <a:rPr lang="en-US" sz="3600" dirty="0">
                <a:solidFill>
                  <a:schemeClr val="bg2">
                    <a:lumMod val="50000"/>
                  </a:schemeClr>
                </a:solidFill>
                <a:latin typeface="Arial" charset="0"/>
                <a:ea typeface="Arial" charset="0"/>
                <a:cs typeface="Arial" charset="0"/>
              </a:rPr>
              <a:t>	</a:t>
            </a:r>
            <a:r>
              <a:rPr lang="en-US" sz="3600" dirty="0">
                <a:latin typeface="Arial" charset="0"/>
                <a:ea typeface="Arial" charset="0"/>
                <a:cs typeface="Arial" charset="0"/>
              </a:rPr>
              <a:t>The sole purpose of this data set is to predict if a pet is likely or not to be adopted. This makes it a binary classification task for a supervised model.</a:t>
            </a:r>
          </a:p>
          <a:p>
            <a:pPr>
              <a:spcBef>
                <a:spcPts val="0"/>
              </a:spcBef>
              <a:spcAft>
                <a:spcPts val="1800"/>
              </a:spcAft>
              <a:defRPr/>
            </a:pPr>
            <a:r>
              <a:rPr lang="en-US" sz="3600" dirty="0">
                <a:latin typeface="Arial" charset="0"/>
                <a:ea typeface="Arial" charset="0"/>
                <a:cs typeface="Arial" charset="0"/>
              </a:rPr>
              <a:t> 	I used six machine learning models:</a:t>
            </a:r>
          </a:p>
          <a:p>
            <a:pPr marL="571500" indent="-571500">
              <a:spcBef>
                <a:spcPts val="0"/>
              </a:spcBef>
              <a:spcAft>
                <a:spcPts val="1800"/>
              </a:spcAft>
              <a:buFont typeface="Arial" panose="020B0604020202020204" pitchFamily="34" charset="0"/>
              <a:buChar char="•"/>
              <a:defRPr/>
            </a:pPr>
            <a:r>
              <a:rPr lang="en-US" sz="3600" dirty="0">
                <a:latin typeface="Arial" charset="0"/>
                <a:ea typeface="Arial" charset="0"/>
                <a:cs typeface="Arial" charset="0"/>
              </a:rPr>
              <a:t>Random Forest</a:t>
            </a:r>
          </a:p>
          <a:p>
            <a:pPr marL="571500" indent="-571500">
              <a:spcBef>
                <a:spcPts val="0"/>
              </a:spcBef>
              <a:spcAft>
                <a:spcPts val="1800"/>
              </a:spcAft>
              <a:buFont typeface="Arial" panose="020B0604020202020204" pitchFamily="34" charset="0"/>
              <a:buChar char="•"/>
              <a:defRPr/>
            </a:pPr>
            <a:r>
              <a:rPr lang="en-US" sz="3600" dirty="0">
                <a:latin typeface="Arial" charset="0"/>
                <a:ea typeface="Arial" charset="0"/>
                <a:cs typeface="Arial" charset="0"/>
              </a:rPr>
              <a:t>Tuned Random Forest</a:t>
            </a:r>
          </a:p>
          <a:p>
            <a:pPr marL="571500" indent="-571500">
              <a:spcBef>
                <a:spcPts val="0"/>
              </a:spcBef>
              <a:spcAft>
                <a:spcPts val="1800"/>
              </a:spcAft>
              <a:buFont typeface="Arial" panose="020B0604020202020204" pitchFamily="34" charset="0"/>
              <a:buChar char="•"/>
              <a:defRPr/>
            </a:pPr>
            <a:r>
              <a:rPr lang="en-US" sz="3600" dirty="0">
                <a:latin typeface="Arial" charset="0"/>
                <a:ea typeface="Arial" charset="0"/>
                <a:cs typeface="Arial" charset="0"/>
              </a:rPr>
              <a:t>Decision Tree</a:t>
            </a:r>
          </a:p>
          <a:p>
            <a:pPr marL="571500" indent="-571500">
              <a:spcBef>
                <a:spcPts val="0"/>
              </a:spcBef>
              <a:spcAft>
                <a:spcPts val="1800"/>
              </a:spcAft>
              <a:buFont typeface="Arial" panose="020B0604020202020204" pitchFamily="34" charset="0"/>
              <a:buChar char="•"/>
              <a:defRPr/>
            </a:pPr>
            <a:r>
              <a:rPr lang="en-US" sz="3600" dirty="0">
                <a:latin typeface="Arial" charset="0"/>
                <a:ea typeface="Arial" charset="0"/>
                <a:cs typeface="Arial" charset="0"/>
              </a:rPr>
              <a:t>Bagging Classifier</a:t>
            </a:r>
          </a:p>
          <a:p>
            <a:pPr marL="571500" indent="-571500">
              <a:spcBef>
                <a:spcPts val="0"/>
              </a:spcBef>
              <a:spcAft>
                <a:spcPts val="1800"/>
              </a:spcAft>
              <a:buFont typeface="Arial" panose="020B0604020202020204" pitchFamily="34" charset="0"/>
              <a:buChar char="•"/>
              <a:defRPr/>
            </a:pPr>
            <a:r>
              <a:rPr lang="en-US" sz="3600" dirty="0">
                <a:latin typeface="Arial" charset="0"/>
                <a:ea typeface="Arial" charset="0"/>
                <a:cs typeface="Arial" charset="0"/>
              </a:rPr>
              <a:t>Tuned Decision Tree</a:t>
            </a:r>
          </a:p>
          <a:p>
            <a:pPr marL="571500" indent="-571500">
              <a:spcBef>
                <a:spcPts val="0"/>
              </a:spcBef>
              <a:spcAft>
                <a:spcPts val="1800"/>
              </a:spcAft>
              <a:buFont typeface="Arial" panose="020B0604020202020204" pitchFamily="34" charset="0"/>
              <a:buChar char="•"/>
              <a:defRPr/>
            </a:pPr>
            <a:r>
              <a:rPr lang="en-US" sz="3600" dirty="0">
                <a:latin typeface="Arial" charset="0"/>
                <a:ea typeface="Arial" charset="0"/>
                <a:cs typeface="Arial" charset="0"/>
              </a:rPr>
              <a:t>Tuned Bagging Classifier</a:t>
            </a:r>
          </a:p>
        </p:txBody>
      </p:sp>
      <p:cxnSp>
        <p:nvCxnSpPr>
          <p:cNvPr id="3082" name="Straight Connector 3081">
            <a:extLst>
              <a:ext uri="{FF2B5EF4-FFF2-40B4-BE49-F238E27FC236}">
                <a16:creationId xmlns:a16="http://schemas.microsoft.com/office/drawing/2014/main" id="{DD6314DC-8695-23A5-4B95-52ACC2F70909}"/>
              </a:ext>
            </a:extLst>
          </p:cNvPr>
          <p:cNvCxnSpPr>
            <a:cxnSpLocks/>
          </p:cNvCxnSpPr>
          <p:nvPr/>
        </p:nvCxnSpPr>
        <p:spPr bwMode="auto">
          <a:xfrm>
            <a:off x="10738276" y="13954841"/>
            <a:ext cx="9595931" cy="0"/>
          </a:xfrm>
          <a:prstGeom prst="line">
            <a:avLst/>
          </a:prstGeom>
          <a:noFill/>
          <a:ln w="25400" cap="flat" cmpd="sng" algn="ctr">
            <a:solidFill>
              <a:schemeClr val="tx1"/>
            </a:solidFill>
            <a:prstDash val="dash"/>
            <a:round/>
            <a:headEnd type="oval" w="med" len="med"/>
            <a:tailEnd type="oval" w="med" len="med"/>
          </a:ln>
          <a:effectLst/>
        </p:spPr>
      </p:cxnSp>
      <p:cxnSp>
        <p:nvCxnSpPr>
          <p:cNvPr id="3092" name="Straight Connector 3091">
            <a:extLst>
              <a:ext uri="{FF2B5EF4-FFF2-40B4-BE49-F238E27FC236}">
                <a16:creationId xmlns:a16="http://schemas.microsoft.com/office/drawing/2014/main" id="{2E267615-781B-3446-5119-85C5CB39E8C1}"/>
              </a:ext>
            </a:extLst>
          </p:cNvPr>
          <p:cNvCxnSpPr>
            <a:cxnSpLocks/>
          </p:cNvCxnSpPr>
          <p:nvPr/>
        </p:nvCxnSpPr>
        <p:spPr bwMode="auto">
          <a:xfrm>
            <a:off x="32643580" y="25022907"/>
            <a:ext cx="10509705" cy="0"/>
          </a:xfrm>
          <a:prstGeom prst="line">
            <a:avLst/>
          </a:prstGeom>
          <a:noFill/>
          <a:ln w="25400" cap="sq" cmpd="sng" algn="ctr">
            <a:solidFill>
              <a:srgbClr val="941100"/>
            </a:solidFill>
            <a:prstDash val="dash"/>
            <a:round/>
            <a:headEnd type="oval" w="med" len="med"/>
            <a:tailEnd type="oval" w="med" len="med"/>
          </a:ln>
          <a:effectLst/>
        </p:spPr>
      </p:cxnSp>
      <p:sp>
        <p:nvSpPr>
          <p:cNvPr id="3168" name="TextBox 3167">
            <a:extLst>
              <a:ext uri="{FF2B5EF4-FFF2-40B4-BE49-F238E27FC236}">
                <a16:creationId xmlns:a16="http://schemas.microsoft.com/office/drawing/2014/main" id="{4F8ADC8A-B6F3-3C8D-ADD2-0DAACBCD9408}"/>
              </a:ext>
            </a:extLst>
          </p:cNvPr>
          <p:cNvSpPr txBox="1"/>
          <p:nvPr/>
        </p:nvSpPr>
        <p:spPr>
          <a:xfrm>
            <a:off x="32995735" y="7402263"/>
            <a:ext cx="9791700" cy="2123658"/>
          </a:xfrm>
          <a:prstGeom prst="rect">
            <a:avLst/>
          </a:prstGeom>
          <a:noFill/>
        </p:spPr>
        <p:txBody>
          <a:bodyPr wrap="square">
            <a:spAutoFit/>
          </a:bodyPr>
          <a:lstStyle/>
          <a:p>
            <a:pPr>
              <a:defRPr/>
            </a:pPr>
            <a:r>
              <a:rPr lang="en-US" sz="6000" b="1" dirty="0">
                <a:solidFill>
                  <a:srgbClr val="941100"/>
                </a:solidFill>
                <a:latin typeface="+mn-lt"/>
              </a:rPr>
              <a:t>Graphic Elements</a:t>
            </a:r>
          </a:p>
          <a:p>
            <a:pPr>
              <a:defRPr/>
            </a:pPr>
            <a:endParaRPr lang="en-US" sz="3600" b="1" dirty="0">
              <a:solidFill>
                <a:srgbClr val="941100"/>
              </a:solidFill>
            </a:endParaRPr>
          </a:p>
          <a:p>
            <a:pPr>
              <a:defRPr/>
            </a:pPr>
            <a:r>
              <a:rPr lang="en-US" sz="3600" b="1" dirty="0">
                <a:solidFill>
                  <a:srgbClr val="941100"/>
                </a:solidFill>
              </a:rPr>
              <a:t>Confusion Matrix:</a:t>
            </a:r>
            <a:endParaRPr lang="en-US" sz="3600" b="1" dirty="0">
              <a:solidFill>
                <a:srgbClr val="941100"/>
              </a:solidFill>
              <a:latin typeface="+mn-lt"/>
            </a:endParaRPr>
          </a:p>
        </p:txBody>
      </p:sp>
      <p:sp>
        <p:nvSpPr>
          <p:cNvPr id="3170" name="TextBox 3169">
            <a:extLst>
              <a:ext uri="{FF2B5EF4-FFF2-40B4-BE49-F238E27FC236}">
                <a16:creationId xmlns:a16="http://schemas.microsoft.com/office/drawing/2014/main" id="{4A7F6959-382F-B768-2E7A-109617527ABC}"/>
              </a:ext>
            </a:extLst>
          </p:cNvPr>
          <p:cNvSpPr txBox="1"/>
          <p:nvPr/>
        </p:nvSpPr>
        <p:spPr>
          <a:xfrm>
            <a:off x="32705022" y="25535469"/>
            <a:ext cx="9453552" cy="3130024"/>
          </a:xfrm>
          <a:prstGeom prst="rect">
            <a:avLst/>
          </a:prstGeom>
          <a:noFill/>
        </p:spPr>
        <p:txBody>
          <a:bodyPr wrap="square">
            <a:spAutoFit/>
          </a:bodyPr>
          <a:lstStyle/>
          <a:p>
            <a:pPr>
              <a:lnSpc>
                <a:spcPts val="3800"/>
              </a:lnSpc>
              <a:spcAft>
                <a:spcPts val="1200"/>
              </a:spcAft>
              <a:buClr>
                <a:schemeClr val="tx2"/>
              </a:buClr>
              <a:defRPr/>
            </a:pPr>
            <a:r>
              <a:rPr lang="en-US" sz="6000" b="1" dirty="0">
                <a:solidFill>
                  <a:srgbClr val="941100"/>
                </a:solidFill>
                <a:latin typeface="Arial" panose="020B0604020202020204" pitchFamily="34" charset="0"/>
                <a:cs typeface="Arial" panose="020B0604020202020204" pitchFamily="34" charset="0"/>
              </a:rPr>
              <a:t>References</a:t>
            </a:r>
            <a:endParaRPr lang="en-US" sz="6000" dirty="0">
              <a:solidFill>
                <a:srgbClr val="941100"/>
              </a:solidFill>
              <a:latin typeface="Arial" panose="020B0604020202020204" pitchFamily="34" charset="0"/>
              <a:ea typeface="Arial" charset="0"/>
              <a:cs typeface="Arial" panose="020B0604020202020204" pitchFamily="34" charset="0"/>
            </a:endParaRPr>
          </a:p>
          <a:p>
            <a:pPr>
              <a:lnSpc>
                <a:spcPts val="3800"/>
              </a:lnSpc>
              <a:spcBef>
                <a:spcPts val="0"/>
              </a:spcBef>
              <a:buClr>
                <a:schemeClr val="tx2"/>
              </a:buClr>
              <a:buFont typeface="+mj-lt"/>
              <a:buAutoNum type="arabicPeriod"/>
              <a:defRPr/>
            </a:pPr>
            <a:r>
              <a:rPr lang="en-US" sz="2800" dirty="0">
                <a:solidFill>
                  <a:schemeClr val="bg2">
                    <a:lumMod val="75000"/>
                  </a:schemeClr>
                </a:solidFill>
                <a:latin typeface="Arial" charset="0"/>
                <a:ea typeface="Arial" charset="0"/>
                <a:cs typeface="Arial" charset="0"/>
                <a:hlinkClick r:id="rId3"/>
              </a:rPr>
              <a:t>https://www.kaggle.com/datasets/rabieelkharoua/predict-pet-adoption-status-dataset</a:t>
            </a:r>
            <a:endParaRPr lang="en-US" sz="2800" dirty="0">
              <a:solidFill>
                <a:schemeClr val="bg2">
                  <a:lumMod val="75000"/>
                </a:schemeClr>
              </a:solidFill>
              <a:latin typeface="Arial" charset="0"/>
              <a:ea typeface="Arial" charset="0"/>
              <a:cs typeface="Arial" charset="0"/>
            </a:endParaRPr>
          </a:p>
          <a:p>
            <a:pPr>
              <a:lnSpc>
                <a:spcPts val="3800"/>
              </a:lnSpc>
              <a:spcBef>
                <a:spcPts val="0"/>
              </a:spcBef>
              <a:buClr>
                <a:schemeClr val="tx2"/>
              </a:buClr>
              <a:buFont typeface="+mj-lt"/>
              <a:buAutoNum type="arabicPeriod"/>
              <a:defRPr/>
            </a:pPr>
            <a:r>
              <a:rPr lang="en-US" sz="2800" dirty="0">
                <a:solidFill>
                  <a:schemeClr val="bg2">
                    <a:lumMod val="75000"/>
                  </a:schemeClr>
                </a:solidFill>
                <a:latin typeface="Arial" charset="0"/>
                <a:ea typeface="Arial" charset="0"/>
                <a:cs typeface="Arial" charset="0"/>
                <a:hlinkClick r:id="rId4" action="ppaction://hlinkfile"/>
              </a:rPr>
              <a:t>file:///C:/Users/test/OneDrive/Desktop/PetAdoption.html</a:t>
            </a:r>
            <a:endParaRPr lang="en-US" sz="2800" dirty="0">
              <a:solidFill>
                <a:schemeClr val="bg2">
                  <a:lumMod val="75000"/>
                </a:schemeClr>
              </a:solidFill>
              <a:latin typeface="Arial" charset="0"/>
              <a:ea typeface="Arial" charset="0"/>
              <a:cs typeface="Arial" charset="0"/>
            </a:endParaRPr>
          </a:p>
          <a:p>
            <a:pPr>
              <a:lnSpc>
                <a:spcPts val="3800"/>
              </a:lnSpc>
              <a:spcBef>
                <a:spcPts val="0"/>
              </a:spcBef>
              <a:buClr>
                <a:schemeClr val="tx2"/>
              </a:buClr>
              <a:buFont typeface="+mj-lt"/>
              <a:buAutoNum type="arabicPeriod"/>
              <a:defRPr/>
            </a:pPr>
            <a:r>
              <a:rPr lang="en-US" sz="2800" dirty="0">
                <a:solidFill>
                  <a:schemeClr val="bg2">
                    <a:lumMod val="75000"/>
                  </a:schemeClr>
                </a:solidFill>
                <a:latin typeface="Arial" charset="0"/>
                <a:ea typeface="Arial" charset="0"/>
                <a:cs typeface="Arial" charset="0"/>
                <a:hlinkClick r:id="rId5"/>
              </a:rPr>
              <a:t>https://chatgpt.com</a:t>
            </a:r>
            <a:endParaRPr lang="en-US" sz="2800" dirty="0">
              <a:solidFill>
                <a:schemeClr val="bg2">
                  <a:lumMod val="75000"/>
                </a:schemeClr>
              </a:solidFill>
              <a:latin typeface="Arial" charset="0"/>
              <a:ea typeface="Arial" charset="0"/>
              <a:cs typeface="Arial" charset="0"/>
            </a:endParaRPr>
          </a:p>
          <a:p>
            <a:pPr>
              <a:lnSpc>
                <a:spcPts val="3800"/>
              </a:lnSpc>
              <a:spcBef>
                <a:spcPts val="0"/>
              </a:spcBef>
              <a:buClr>
                <a:schemeClr val="tx2"/>
              </a:buClr>
              <a:buFont typeface="+mj-lt"/>
              <a:buAutoNum type="arabicPeriod"/>
              <a:defRPr/>
            </a:pPr>
            <a:r>
              <a:rPr lang="en-US" sz="2800" dirty="0">
                <a:solidFill>
                  <a:schemeClr val="bg2">
                    <a:lumMod val="75000"/>
                  </a:schemeClr>
                </a:solidFill>
                <a:latin typeface="Arial" charset="0"/>
                <a:ea typeface="Arial" charset="0"/>
                <a:cs typeface="Arial" charset="0"/>
                <a:hlinkClick r:id="rId6"/>
              </a:rPr>
              <a:t>https://images.google.com</a:t>
            </a:r>
            <a:endParaRPr lang="en-US" sz="2800" dirty="0">
              <a:solidFill>
                <a:schemeClr val="bg2">
                  <a:lumMod val="75000"/>
                </a:schemeClr>
              </a:solidFill>
              <a:latin typeface="Arial" charset="0"/>
              <a:ea typeface="Arial" charset="0"/>
              <a:cs typeface="Arial" charset="0"/>
            </a:endParaRPr>
          </a:p>
        </p:txBody>
      </p:sp>
      <p:cxnSp>
        <p:nvCxnSpPr>
          <p:cNvPr id="3171" name="Straight Connector 3170">
            <a:extLst>
              <a:ext uri="{FF2B5EF4-FFF2-40B4-BE49-F238E27FC236}">
                <a16:creationId xmlns:a16="http://schemas.microsoft.com/office/drawing/2014/main" id="{F9ED6041-3DAF-60E5-2FBC-A12A9EBB6685}"/>
              </a:ext>
            </a:extLst>
          </p:cNvPr>
          <p:cNvCxnSpPr>
            <a:cxnSpLocks/>
          </p:cNvCxnSpPr>
          <p:nvPr/>
        </p:nvCxnSpPr>
        <p:spPr bwMode="auto">
          <a:xfrm flipH="1">
            <a:off x="10339331" y="6368943"/>
            <a:ext cx="99947" cy="25708146"/>
          </a:xfrm>
          <a:prstGeom prst="line">
            <a:avLst/>
          </a:prstGeom>
          <a:noFill/>
          <a:ln w="25400" cap="flat" cmpd="sng" algn="ctr">
            <a:solidFill>
              <a:schemeClr val="tx1"/>
            </a:solidFill>
            <a:prstDash val="dash"/>
            <a:round/>
            <a:headEnd type="oval" w="med" len="med"/>
            <a:tailEnd type="oval" w="med" len="med"/>
          </a:ln>
          <a:effectLst/>
        </p:spPr>
      </p:cxnSp>
      <p:cxnSp>
        <p:nvCxnSpPr>
          <p:cNvPr id="3179" name="Straight Connector 3178">
            <a:extLst>
              <a:ext uri="{FF2B5EF4-FFF2-40B4-BE49-F238E27FC236}">
                <a16:creationId xmlns:a16="http://schemas.microsoft.com/office/drawing/2014/main" id="{BFF005F8-06E5-DA4C-D399-8AC3BDD6727F}"/>
              </a:ext>
            </a:extLst>
          </p:cNvPr>
          <p:cNvCxnSpPr>
            <a:cxnSpLocks/>
          </p:cNvCxnSpPr>
          <p:nvPr/>
        </p:nvCxnSpPr>
        <p:spPr bwMode="auto">
          <a:xfrm>
            <a:off x="20670884" y="6418397"/>
            <a:ext cx="0" cy="25658692"/>
          </a:xfrm>
          <a:prstGeom prst="line">
            <a:avLst/>
          </a:prstGeom>
          <a:noFill/>
          <a:ln w="25400" cap="flat" cmpd="sng" algn="ctr">
            <a:solidFill>
              <a:schemeClr val="tx1"/>
            </a:solidFill>
            <a:prstDash val="dash"/>
            <a:round/>
            <a:headEnd type="oval" w="med" len="med"/>
            <a:tailEnd type="oval" w="med" len="med"/>
          </a:ln>
          <a:effectLst/>
        </p:spPr>
      </p:cxnSp>
      <p:cxnSp>
        <p:nvCxnSpPr>
          <p:cNvPr id="3180" name="Straight Connector 3179">
            <a:extLst>
              <a:ext uri="{FF2B5EF4-FFF2-40B4-BE49-F238E27FC236}">
                <a16:creationId xmlns:a16="http://schemas.microsoft.com/office/drawing/2014/main" id="{1D69B8F1-E297-3973-D7CA-D88F6D9BEDA6}"/>
              </a:ext>
            </a:extLst>
          </p:cNvPr>
          <p:cNvCxnSpPr>
            <a:cxnSpLocks/>
          </p:cNvCxnSpPr>
          <p:nvPr/>
        </p:nvCxnSpPr>
        <p:spPr bwMode="auto">
          <a:xfrm flipH="1">
            <a:off x="32076701" y="6461118"/>
            <a:ext cx="63476" cy="25615971"/>
          </a:xfrm>
          <a:prstGeom prst="line">
            <a:avLst/>
          </a:prstGeom>
          <a:noFill/>
          <a:ln w="25400" cap="flat" cmpd="sng" algn="ctr">
            <a:solidFill>
              <a:schemeClr val="tx1"/>
            </a:solidFill>
            <a:prstDash val="dash"/>
            <a:round/>
            <a:headEnd type="oval" w="med" len="med"/>
            <a:tailEnd type="oval" w="med" len="med"/>
          </a:ln>
          <a:effectLst/>
        </p:spPr>
      </p:cxnSp>
      <p:sp>
        <p:nvSpPr>
          <p:cNvPr id="3181" name="TextBox 3180">
            <a:extLst>
              <a:ext uri="{FF2B5EF4-FFF2-40B4-BE49-F238E27FC236}">
                <a16:creationId xmlns:a16="http://schemas.microsoft.com/office/drawing/2014/main" id="{BCE31BA1-032D-2D41-309F-B258FE59194D}"/>
              </a:ext>
            </a:extLst>
          </p:cNvPr>
          <p:cNvSpPr txBox="1"/>
          <p:nvPr/>
        </p:nvSpPr>
        <p:spPr>
          <a:xfrm>
            <a:off x="743604" y="983094"/>
            <a:ext cx="38855565" cy="4031873"/>
          </a:xfrm>
          <a:prstGeom prst="rect">
            <a:avLst/>
          </a:prstGeom>
          <a:noFill/>
        </p:spPr>
        <p:txBody>
          <a:bodyPr wrap="square" rtlCol="0">
            <a:spAutoFit/>
          </a:bodyPr>
          <a:lstStyle/>
          <a:p>
            <a:pPr eaLnBrk="1" hangingPunct="1">
              <a:spcBef>
                <a:spcPts val="0"/>
              </a:spcBef>
              <a:spcAft>
                <a:spcPts val="0"/>
              </a:spcAft>
              <a:defRPr/>
            </a:pPr>
            <a:r>
              <a:rPr lang="en-US" altLang="en-US" sz="9600" dirty="0">
                <a:solidFill>
                  <a:srgbClr val="FFFFFF"/>
                </a:solidFill>
                <a:latin typeface="Arial" panose="020B0604020202020204" pitchFamily="34" charset="0"/>
                <a:ea typeface="Arial" charset="0"/>
                <a:cs typeface="Arial" panose="020B0604020202020204" pitchFamily="34" charset="0"/>
              </a:rPr>
              <a:t>Prediction of Pet Adoption Likelihood Using Machine Learning</a:t>
            </a:r>
          </a:p>
          <a:p>
            <a:pPr>
              <a:spcBef>
                <a:spcPts val="600"/>
              </a:spcBef>
              <a:spcAft>
                <a:spcPts val="1800"/>
              </a:spcAft>
              <a:defRPr/>
            </a:pPr>
            <a:r>
              <a:rPr lang="en-US" altLang="en-US" sz="4400" dirty="0">
                <a:solidFill>
                  <a:srgbClr val="FFFFFF"/>
                </a:solidFill>
                <a:latin typeface="+mn-lt"/>
                <a:ea typeface="Arial" charset="0"/>
              </a:rPr>
              <a:t>Dolineaschi Tudor | Stanford Pre-Collegiate Summer Institutes</a:t>
            </a:r>
          </a:p>
          <a:p>
            <a:pPr eaLnBrk="1" hangingPunct="1">
              <a:spcBef>
                <a:spcPts val="0"/>
              </a:spcBef>
              <a:spcAft>
                <a:spcPts val="0"/>
              </a:spcAft>
              <a:defRPr/>
            </a:pPr>
            <a:endParaRPr lang="en-US" altLang="en-US" sz="9600" dirty="0">
              <a:solidFill>
                <a:srgbClr val="FFFFFF"/>
              </a:solidFill>
              <a:latin typeface="Arial" panose="020B0604020202020204" pitchFamily="34" charset="0"/>
              <a:ea typeface="Arial" charset="0"/>
              <a:cs typeface="Arial" panose="020B0604020202020204" pitchFamily="34" charset="0"/>
            </a:endParaRPr>
          </a:p>
        </p:txBody>
      </p:sp>
      <p:sp>
        <p:nvSpPr>
          <p:cNvPr id="3196" name="TextBox 64">
            <a:extLst>
              <a:ext uri="{FF2B5EF4-FFF2-40B4-BE49-F238E27FC236}">
                <a16:creationId xmlns:a16="http://schemas.microsoft.com/office/drawing/2014/main" id="{A539B2D2-89C0-CC77-7A7B-8F9F88DD20B9}"/>
              </a:ext>
            </a:extLst>
          </p:cNvPr>
          <p:cNvSpPr txBox="1">
            <a:spLocks noChangeArrowheads="1"/>
          </p:cNvSpPr>
          <p:nvPr/>
        </p:nvSpPr>
        <p:spPr bwMode="auto">
          <a:xfrm>
            <a:off x="17618367" y="19283632"/>
            <a:ext cx="17240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r>
              <a:rPr lang="en-US" altLang="en-US" sz="2000" dirty="0">
                <a:solidFill>
                  <a:schemeClr val="bg1"/>
                </a:solidFill>
                <a:latin typeface="Arial" charset="0"/>
                <a:ea typeface="Arial" charset="0"/>
              </a:rPr>
              <a:t>Figure A: neque dignissim, and in aliquet nisl et umis</a:t>
            </a:r>
            <a:r>
              <a:rPr lang="en-US" altLang="en-US" sz="1800" dirty="0">
                <a:solidFill>
                  <a:schemeClr val="bg1"/>
                </a:solidFill>
                <a:latin typeface="Arial" charset="0"/>
                <a:ea typeface="Arial" charset="0"/>
              </a:rPr>
              <a:t>.</a:t>
            </a:r>
          </a:p>
        </p:txBody>
      </p:sp>
      <p:sp>
        <p:nvSpPr>
          <p:cNvPr id="3198" name="Left Bracket 3197">
            <a:extLst>
              <a:ext uri="{FF2B5EF4-FFF2-40B4-BE49-F238E27FC236}">
                <a16:creationId xmlns:a16="http://schemas.microsoft.com/office/drawing/2014/main" id="{AE1B696B-FB14-0404-B84C-C318C54A61BE}"/>
              </a:ext>
            </a:extLst>
          </p:cNvPr>
          <p:cNvSpPr/>
          <p:nvPr/>
        </p:nvSpPr>
        <p:spPr>
          <a:xfrm>
            <a:off x="17114963" y="19224138"/>
            <a:ext cx="383046" cy="1631215"/>
          </a:xfrm>
          <a:prstGeom prst="leftBracket">
            <a:avLst/>
          </a:prstGeom>
          <a:noFill/>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99" name="Right Bracket 3198">
            <a:extLst>
              <a:ext uri="{FF2B5EF4-FFF2-40B4-BE49-F238E27FC236}">
                <a16:creationId xmlns:a16="http://schemas.microsoft.com/office/drawing/2014/main" id="{0615147A-7DF8-A381-8C03-8A017A6D283C}"/>
              </a:ext>
            </a:extLst>
          </p:cNvPr>
          <p:cNvSpPr/>
          <p:nvPr/>
        </p:nvSpPr>
        <p:spPr>
          <a:xfrm>
            <a:off x="19212416" y="19137711"/>
            <a:ext cx="384048" cy="1627632"/>
          </a:xfrm>
          <a:prstGeom prst="rightBracket">
            <a:avLst/>
          </a:prstGeom>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11" name="Freeform 3210">
            <a:extLst>
              <a:ext uri="{FF2B5EF4-FFF2-40B4-BE49-F238E27FC236}">
                <a16:creationId xmlns:a16="http://schemas.microsoft.com/office/drawing/2014/main" id="{36D50631-DC5B-4414-DFE4-8ABAA77EFB37}"/>
              </a:ext>
            </a:extLst>
          </p:cNvPr>
          <p:cNvSpPr>
            <a:spLocks/>
          </p:cNvSpPr>
          <p:nvPr/>
        </p:nvSpPr>
        <p:spPr bwMode="auto">
          <a:xfrm>
            <a:off x="-1" y="32386268"/>
            <a:ext cx="43891201" cy="522395"/>
          </a:xfrm>
          <a:custGeom>
            <a:avLst/>
            <a:gdLst>
              <a:gd name="T0" fmla="*/ 0 w 31660"/>
              <a:gd name="T1" fmla="*/ 2110 h 2111"/>
              <a:gd name="T2" fmla="*/ 31659 w 31660"/>
              <a:gd name="T3" fmla="*/ 2110 h 2111"/>
              <a:gd name="T4" fmla="*/ 31659 w 31660"/>
              <a:gd name="T5" fmla="*/ 0 h 2111"/>
              <a:gd name="T6" fmla="*/ 0 w 31660"/>
              <a:gd name="T7" fmla="*/ 0 h 2111"/>
              <a:gd name="T8" fmla="*/ 0 w 31660"/>
              <a:gd name="T9" fmla="*/ 2110 h 2111"/>
            </a:gdLst>
            <a:ahLst/>
            <a:cxnLst>
              <a:cxn ang="0">
                <a:pos x="T0" y="T1"/>
              </a:cxn>
              <a:cxn ang="0">
                <a:pos x="T2" y="T3"/>
              </a:cxn>
              <a:cxn ang="0">
                <a:pos x="T4" y="T5"/>
              </a:cxn>
              <a:cxn ang="0">
                <a:pos x="T6" y="T7"/>
              </a:cxn>
              <a:cxn ang="0">
                <a:pos x="T8" y="T9"/>
              </a:cxn>
            </a:cxnLst>
            <a:rect l="0" t="0" r="r" b="b"/>
            <a:pathLst>
              <a:path w="31660" h="2111">
                <a:moveTo>
                  <a:pt x="0" y="2110"/>
                </a:moveTo>
                <a:lnTo>
                  <a:pt x="31659" y="2110"/>
                </a:lnTo>
                <a:lnTo>
                  <a:pt x="31659" y="0"/>
                </a:lnTo>
                <a:lnTo>
                  <a:pt x="0" y="0"/>
                </a:lnTo>
                <a:lnTo>
                  <a:pt x="0" y="2110"/>
                </a:lnTo>
                <a:close/>
              </a:path>
            </a:pathLst>
          </a:custGeom>
          <a:solidFill>
            <a:srgbClr val="C00000"/>
          </a:solidFill>
          <a:ln>
            <a:noFill/>
          </a:ln>
        </p:spPr>
        <p:txBody>
          <a:bodyPr rot="0" vert="horz" wrap="square" lIns="91440" tIns="45720" rIns="91440" bIns="45720" anchor="t" anchorCtr="0" upright="1">
            <a:noAutofit/>
          </a:bodyPr>
          <a:lstStyle/>
          <a:p>
            <a:endParaRPr lang="en-US">
              <a:solidFill>
                <a:srgbClr val="C00000"/>
              </a:solidFill>
            </a:endParaRPr>
          </a:p>
        </p:txBody>
      </p:sp>
      <p:pic>
        <p:nvPicPr>
          <p:cNvPr id="1028" name="Picture 4" descr="Block S with Tree - Identity Guide">
            <a:extLst>
              <a:ext uri="{FF2B5EF4-FFF2-40B4-BE49-F238E27FC236}">
                <a16:creationId xmlns:a16="http://schemas.microsoft.com/office/drawing/2014/main" id="{D98F9E21-41DA-6C3E-2834-B824D0D99C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70680" y="360680"/>
            <a:ext cx="3810000" cy="3810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3081">
            <a:extLst>
              <a:ext uri="{FF2B5EF4-FFF2-40B4-BE49-F238E27FC236}">
                <a16:creationId xmlns:a16="http://schemas.microsoft.com/office/drawing/2014/main" id="{F4E7D4EA-290F-434E-5224-885990636D54}"/>
              </a:ext>
            </a:extLst>
          </p:cNvPr>
          <p:cNvCxnSpPr>
            <a:cxnSpLocks/>
          </p:cNvCxnSpPr>
          <p:nvPr/>
        </p:nvCxnSpPr>
        <p:spPr bwMode="auto">
          <a:xfrm>
            <a:off x="418745" y="22270186"/>
            <a:ext cx="9595931" cy="0"/>
          </a:xfrm>
          <a:prstGeom prst="line">
            <a:avLst/>
          </a:prstGeom>
          <a:noFill/>
          <a:ln w="25400" cap="flat" cmpd="sng" algn="ctr">
            <a:solidFill>
              <a:schemeClr val="tx1"/>
            </a:solidFill>
            <a:prstDash val="dash"/>
            <a:round/>
            <a:headEnd type="oval" w="med" len="med"/>
            <a:tailEnd type="oval" w="med" len="med"/>
          </a:ln>
          <a:effectLst/>
        </p:spPr>
      </p:cxnSp>
      <p:pic>
        <p:nvPicPr>
          <p:cNvPr id="1030" name="Picture 6" descr="8 of the Cutest Dog Breeds | PawLove ...">
            <a:extLst>
              <a:ext uri="{FF2B5EF4-FFF2-40B4-BE49-F238E27FC236}">
                <a16:creationId xmlns:a16="http://schemas.microsoft.com/office/drawing/2014/main" id="{C5587E12-F51D-CF16-2C2C-0823BFE306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448" y="15900491"/>
            <a:ext cx="9449228" cy="60745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3053">
            <a:extLst>
              <a:ext uri="{FF2B5EF4-FFF2-40B4-BE49-F238E27FC236}">
                <a16:creationId xmlns:a16="http://schemas.microsoft.com/office/drawing/2014/main" id="{9E7E725F-3750-C8FF-A081-FD861D26922C}"/>
              </a:ext>
            </a:extLst>
          </p:cNvPr>
          <p:cNvSpPr txBox="1"/>
          <p:nvPr/>
        </p:nvSpPr>
        <p:spPr>
          <a:xfrm>
            <a:off x="10738276" y="6538484"/>
            <a:ext cx="8869680" cy="7727244"/>
          </a:xfrm>
          <a:prstGeom prst="rect">
            <a:avLst/>
          </a:prstGeom>
          <a:solidFill>
            <a:schemeClr val="bg1">
              <a:alpha val="63000"/>
            </a:schemeClr>
          </a:solidFill>
          <a:effectLst/>
        </p:spPr>
        <p:txBody>
          <a:bodyPr wrap="square">
            <a:spAutoFit/>
          </a:bodyPr>
          <a:lstStyle/>
          <a:p>
            <a:pPr algn="l" fontAlgn="base">
              <a:buFont typeface="+mj-lt"/>
              <a:buAutoNum type="arabicPeriod"/>
            </a:pPr>
            <a:endParaRPr lang="en-US" sz="6000" b="1" i="0" dirty="0">
              <a:solidFill>
                <a:srgbClr val="3C4043"/>
              </a:solidFill>
              <a:effectLst/>
              <a:latin typeface="inherit"/>
            </a:endParaRPr>
          </a:p>
          <a:p>
            <a:pPr marL="742950" indent="-742950" algn="l" fontAlgn="base">
              <a:buFont typeface="+mj-lt"/>
              <a:buAutoNum type="arabicPeriod" startAt="4"/>
            </a:pPr>
            <a:r>
              <a:rPr lang="en-US" sz="3600" b="1" i="0" dirty="0" err="1">
                <a:solidFill>
                  <a:srgbClr val="3C4043"/>
                </a:solidFill>
                <a:effectLst/>
                <a:latin typeface="Arial" panose="020B0604020202020204" pitchFamily="34" charset="0"/>
                <a:cs typeface="Arial" panose="020B0604020202020204" pitchFamily="34" charset="0"/>
              </a:rPr>
              <a:t>AgeMonths</a:t>
            </a:r>
            <a:r>
              <a:rPr lang="en-US" sz="3600" dirty="0">
                <a:solidFill>
                  <a:srgbClr val="3C4043"/>
                </a:solidFill>
                <a:latin typeface="Arial" panose="020B0604020202020204" pitchFamily="34" charset="0"/>
                <a:cs typeface="Arial" panose="020B0604020202020204" pitchFamily="34" charset="0"/>
              </a:rPr>
              <a:t> (I/R)</a:t>
            </a:r>
            <a:endParaRPr lang="en-US" sz="3600" b="0" i="0" dirty="0">
              <a:solidFill>
                <a:srgbClr val="3C4043"/>
              </a:solidFill>
              <a:effectLst/>
              <a:latin typeface="Arial" panose="020B0604020202020204" pitchFamily="34" charset="0"/>
              <a:cs typeface="Arial" panose="020B0604020202020204" pitchFamily="34" charset="0"/>
            </a:endParaRPr>
          </a:p>
          <a:p>
            <a:pPr algn="l" fontAlgn="base">
              <a:buFont typeface="+mj-lt"/>
              <a:buAutoNum type="arabicPeriod" startAt="4"/>
            </a:pPr>
            <a:r>
              <a:rPr lang="en-US" sz="3600" b="1" i="0" dirty="0">
                <a:solidFill>
                  <a:srgbClr val="3C4043"/>
                </a:solidFill>
                <a:effectLst/>
                <a:latin typeface="Arial" panose="020B0604020202020204" pitchFamily="34" charset="0"/>
                <a:cs typeface="Arial" panose="020B0604020202020204" pitchFamily="34" charset="0"/>
              </a:rPr>
              <a:t>Color </a:t>
            </a:r>
            <a:r>
              <a:rPr lang="en-US" sz="3600" i="0" dirty="0">
                <a:solidFill>
                  <a:srgbClr val="3C4043"/>
                </a:solidFill>
                <a:effectLst/>
                <a:latin typeface="Arial" panose="020B0604020202020204" pitchFamily="34" charset="0"/>
                <a:cs typeface="Arial" panose="020B0604020202020204" pitchFamily="34" charset="0"/>
              </a:rPr>
              <a:t>(nominal</a:t>
            </a:r>
            <a:r>
              <a:rPr lang="en-US" sz="3600" b="1" i="0" dirty="0">
                <a:solidFill>
                  <a:srgbClr val="3C4043"/>
                </a:solidFill>
                <a:effectLst/>
                <a:latin typeface="Arial" panose="020B0604020202020204" pitchFamily="34" charset="0"/>
                <a:cs typeface="Arial" panose="020B0604020202020204" pitchFamily="34" charset="0"/>
              </a:rPr>
              <a:t>)</a:t>
            </a:r>
            <a:endParaRPr lang="en-US" sz="3600" b="0" i="0" dirty="0">
              <a:solidFill>
                <a:srgbClr val="3C4043"/>
              </a:solidFill>
              <a:effectLst/>
              <a:latin typeface="Arial" panose="020B0604020202020204" pitchFamily="34" charset="0"/>
              <a:cs typeface="Arial" panose="020B0604020202020204" pitchFamily="34" charset="0"/>
            </a:endParaRPr>
          </a:p>
          <a:p>
            <a:pPr algn="l" fontAlgn="base">
              <a:buFont typeface="+mj-lt"/>
              <a:buAutoNum type="arabicPeriod" startAt="4"/>
            </a:pPr>
            <a:r>
              <a:rPr lang="en-US" sz="3600" b="1" i="0" dirty="0">
                <a:solidFill>
                  <a:srgbClr val="3C4043"/>
                </a:solidFill>
                <a:effectLst/>
                <a:latin typeface="Arial" panose="020B0604020202020204" pitchFamily="34" charset="0"/>
                <a:cs typeface="Arial" panose="020B0604020202020204" pitchFamily="34" charset="0"/>
              </a:rPr>
              <a:t>Size </a:t>
            </a:r>
            <a:r>
              <a:rPr lang="en-US" sz="3600" i="0" dirty="0">
                <a:solidFill>
                  <a:srgbClr val="3C4043"/>
                </a:solidFill>
                <a:effectLst/>
                <a:latin typeface="Arial" panose="020B0604020202020204" pitchFamily="34" charset="0"/>
                <a:cs typeface="Arial" panose="020B0604020202020204" pitchFamily="34" charset="0"/>
              </a:rPr>
              <a:t>(ordinal)</a:t>
            </a:r>
          </a:p>
          <a:p>
            <a:pPr algn="l" fontAlgn="base">
              <a:buFont typeface="+mj-lt"/>
              <a:buAutoNum type="arabicPeriod" startAt="4"/>
            </a:pPr>
            <a:r>
              <a:rPr lang="en-US" sz="3600" b="1" i="0" dirty="0" err="1">
                <a:solidFill>
                  <a:srgbClr val="3C4043"/>
                </a:solidFill>
                <a:effectLst/>
                <a:latin typeface="Arial" panose="020B0604020202020204" pitchFamily="34" charset="0"/>
                <a:cs typeface="Arial" panose="020B0604020202020204" pitchFamily="34" charset="0"/>
              </a:rPr>
              <a:t>WeightKg</a:t>
            </a:r>
            <a:r>
              <a:rPr lang="en-US" sz="3600" b="1" i="0" dirty="0">
                <a:solidFill>
                  <a:srgbClr val="3C4043"/>
                </a:solidFill>
                <a:effectLst/>
                <a:latin typeface="Arial" panose="020B0604020202020204" pitchFamily="34" charset="0"/>
                <a:cs typeface="Arial" panose="020B0604020202020204" pitchFamily="34" charset="0"/>
              </a:rPr>
              <a:t> </a:t>
            </a:r>
            <a:r>
              <a:rPr lang="en-US" sz="3600" i="0" dirty="0">
                <a:solidFill>
                  <a:srgbClr val="3C4043"/>
                </a:solidFill>
                <a:effectLst/>
                <a:latin typeface="Arial" panose="020B0604020202020204" pitchFamily="34" charset="0"/>
                <a:cs typeface="Arial" panose="020B0604020202020204" pitchFamily="34" charset="0"/>
              </a:rPr>
              <a:t>(I/R)</a:t>
            </a:r>
          </a:p>
          <a:p>
            <a:pPr algn="l" fontAlgn="base">
              <a:buFont typeface="+mj-lt"/>
              <a:buAutoNum type="arabicPeriod" startAt="4"/>
            </a:pPr>
            <a:r>
              <a:rPr lang="en-US" sz="3600" b="1" i="0" dirty="0">
                <a:solidFill>
                  <a:srgbClr val="3C4043"/>
                </a:solidFill>
                <a:effectLst/>
                <a:latin typeface="Arial" panose="020B0604020202020204" pitchFamily="34" charset="0"/>
                <a:cs typeface="Arial" panose="020B0604020202020204" pitchFamily="34" charset="0"/>
              </a:rPr>
              <a:t>Vaccinated </a:t>
            </a:r>
            <a:r>
              <a:rPr lang="en-US" sz="3600" i="0" dirty="0">
                <a:solidFill>
                  <a:srgbClr val="3C4043"/>
                </a:solidFill>
                <a:effectLst/>
                <a:latin typeface="Arial" panose="020B0604020202020204" pitchFamily="34" charset="0"/>
                <a:cs typeface="Arial" panose="020B0604020202020204" pitchFamily="34" charset="0"/>
              </a:rPr>
              <a:t>(I/R)</a:t>
            </a:r>
          </a:p>
          <a:p>
            <a:pPr algn="l" fontAlgn="base">
              <a:buFont typeface="+mj-lt"/>
              <a:buAutoNum type="arabicPeriod" startAt="4"/>
            </a:pPr>
            <a:r>
              <a:rPr lang="en-US" sz="3600" b="1" i="0" dirty="0" err="1">
                <a:solidFill>
                  <a:srgbClr val="3C4043"/>
                </a:solidFill>
                <a:effectLst/>
                <a:latin typeface="Arial" panose="020B0604020202020204" pitchFamily="34" charset="0"/>
                <a:cs typeface="Arial" panose="020B0604020202020204" pitchFamily="34" charset="0"/>
              </a:rPr>
              <a:t>HealthCondition</a:t>
            </a:r>
            <a:r>
              <a:rPr lang="en-US" sz="3600" i="0" dirty="0">
                <a:solidFill>
                  <a:srgbClr val="3C4043"/>
                </a:solidFill>
                <a:effectLst/>
                <a:latin typeface="Arial" panose="020B0604020202020204" pitchFamily="34" charset="0"/>
                <a:cs typeface="Arial" panose="020B0604020202020204" pitchFamily="34" charset="0"/>
              </a:rPr>
              <a:t> (I/R)</a:t>
            </a:r>
          </a:p>
          <a:p>
            <a:pPr algn="l" fontAlgn="base">
              <a:buFont typeface="+mj-lt"/>
              <a:buAutoNum type="arabicPeriod" startAt="4"/>
            </a:pPr>
            <a:r>
              <a:rPr lang="en-US" sz="3600" b="1" i="0" dirty="0" err="1">
                <a:solidFill>
                  <a:srgbClr val="3C4043"/>
                </a:solidFill>
                <a:effectLst/>
                <a:latin typeface="Arial" panose="020B0604020202020204" pitchFamily="34" charset="0"/>
                <a:cs typeface="Arial" panose="020B0604020202020204" pitchFamily="34" charset="0"/>
              </a:rPr>
              <a:t>TimeInShelterDays</a:t>
            </a:r>
            <a:r>
              <a:rPr lang="en-US" sz="3600" b="1" i="0" dirty="0">
                <a:solidFill>
                  <a:srgbClr val="3C4043"/>
                </a:solidFill>
                <a:effectLst/>
                <a:latin typeface="Arial" panose="020B0604020202020204" pitchFamily="34" charset="0"/>
                <a:cs typeface="Arial" panose="020B0604020202020204" pitchFamily="34" charset="0"/>
              </a:rPr>
              <a:t> </a:t>
            </a:r>
            <a:r>
              <a:rPr lang="en-US" sz="3600" i="0" dirty="0">
                <a:solidFill>
                  <a:srgbClr val="3C4043"/>
                </a:solidFill>
                <a:effectLst/>
                <a:latin typeface="Arial" panose="020B0604020202020204" pitchFamily="34" charset="0"/>
                <a:cs typeface="Arial" panose="020B0604020202020204" pitchFamily="34" charset="0"/>
              </a:rPr>
              <a:t>(I/R)</a:t>
            </a:r>
          </a:p>
          <a:p>
            <a:pPr algn="l" fontAlgn="base">
              <a:buFont typeface="+mj-lt"/>
              <a:buAutoNum type="arabicPeriod" startAt="4"/>
            </a:pPr>
            <a:r>
              <a:rPr lang="en-US" sz="3600" b="1" i="0" dirty="0" err="1">
                <a:solidFill>
                  <a:srgbClr val="3C4043"/>
                </a:solidFill>
                <a:effectLst/>
                <a:latin typeface="Arial" panose="020B0604020202020204" pitchFamily="34" charset="0"/>
                <a:cs typeface="Arial" panose="020B0604020202020204" pitchFamily="34" charset="0"/>
              </a:rPr>
              <a:t>AdoptionFee</a:t>
            </a:r>
            <a:r>
              <a:rPr lang="en-US" sz="3600" b="1" i="0" dirty="0">
                <a:solidFill>
                  <a:srgbClr val="3C4043"/>
                </a:solidFill>
                <a:effectLst/>
                <a:latin typeface="Arial" panose="020B0604020202020204" pitchFamily="34" charset="0"/>
                <a:cs typeface="Arial" panose="020B0604020202020204" pitchFamily="34" charset="0"/>
              </a:rPr>
              <a:t> </a:t>
            </a:r>
            <a:r>
              <a:rPr lang="en-US" sz="3600" i="0" dirty="0">
                <a:solidFill>
                  <a:srgbClr val="3C4043"/>
                </a:solidFill>
                <a:effectLst/>
                <a:latin typeface="Arial" panose="020B0604020202020204" pitchFamily="34" charset="0"/>
                <a:cs typeface="Arial" panose="020B0604020202020204" pitchFamily="34" charset="0"/>
              </a:rPr>
              <a:t>(</a:t>
            </a:r>
            <a:r>
              <a:rPr lang="en-US" sz="3600" dirty="0">
                <a:solidFill>
                  <a:srgbClr val="3C4043"/>
                </a:solidFill>
                <a:latin typeface="Arial" panose="020B0604020202020204" pitchFamily="34" charset="0"/>
                <a:cs typeface="Arial" panose="020B0604020202020204" pitchFamily="34" charset="0"/>
              </a:rPr>
              <a:t>I/R)</a:t>
            </a:r>
            <a:endParaRPr lang="en-US" sz="3600" i="0" dirty="0">
              <a:solidFill>
                <a:srgbClr val="3C4043"/>
              </a:solidFill>
              <a:effectLst/>
              <a:latin typeface="Arial" panose="020B0604020202020204" pitchFamily="34" charset="0"/>
              <a:cs typeface="Arial" panose="020B0604020202020204" pitchFamily="34" charset="0"/>
            </a:endParaRPr>
          </a:p>
          <a:p>
            <a:pPr algn="l" fontAlgn="base">
              <a:buFont typeface="+mj-lt"/>
              <a:buAutoNum type="arabicPeriod" startAt="4"/>
            </a:pPr>
            <a:r>
              <a:rPr lang="en-US" sz="3600" b="1" i="0" dirty="0" err="1">
                <a:solidFill>
                  <a:srgbClr val="3C4043"/>
                </a:solidFill>
                <a:effectLst/>
                <a:latin typeface="Arial" panose="020B0604020202020204" pitchFamily="34" charset="0"/>
                <a:cs typeface="Arial" panose="020B0604020202020204" pitchFamily="34" charset="0"/>
              </a:rPr>
              <a:t>PreviousOwner</a:t>
            </a:r>
            <a:r>
              <a:rPr lang="en-US" sz="3600" b="1" i="0" dirty="0">
                <a:solidFill>
                  <a:srgbClr val="3C4043"/>
                </a:solidFill>
                <a:effectLst/>
                <a:latin typeface="Arial" panose="020B0604020202020204" pitchFamily="34" charset="0"/>
                <a:cs typeface="Arial" panose="020B0604020202020204" pitchFamily="34" charset="0"/>
              </a:rPr>
              <a:t> </a:t>
            </a:r>
            <a:r>
              <a:rPr lang="en-US" sz="3600" i="0" dirty="0">
                <a:solidFill>
                  <a:srgbClr val="3C4043"/>
                </a:solidFill>
                <a:effectLst/>
                <a:latin typeface="Arial" panose="020B0604020202020204" pitchFamily="34" charset="0"/>
                <a:cs typeface="Arial" panose="020B0604020202020204" pitchFamily="34" charset="0"/>
              </a:rPr>
              <a:t>(</a:t>
            </a:r>
            <a:r>
              <a:rPr lang="en-US" sz="3600" dirty="0">
                <a:solidFill>
                  <a:srgbClr val="3C4043"/>
                </a:solidFill>
                <a:latin typeface="Arial" panose="020B0604020202020204" pitchFamily="34" charset="0"/>
                <a:cs typeface="Arial" panose="020B0604020202020204" pitchFamily="34" charset="0"/>
              </a:rPr>
              <a:t>I/R)</a:t>
            </a:r>
            <a:endParaRPr lang="en-US" sz="3600" i="0" dirty="0">
              <a:solidFill>
                <a:srgbClr val="3C4043"/>
              </a:solidFill>
              <a:effectLst/>
              <a:latin typeface="Arial" panose="020B0604020202020204" pitchFamily="34" charset="0"/>
              <a:cs typeface="Arial" panose="020B0604020202020204" pitchFamily="34" charset="0"/>
            </a:endParaRPr>
          </a:p>
          <a:p>
            <a:pPr fontAlgn="base"/>
            <a:r>
              <a:rPr lang="en-US" sz="3600" b="1" dirty="0">
                <a:solidFill>
                  <a:srgbClr val="941100"/>
                </a:solidFill>
                <a:latin typeface="Arial" panose="020B0604020202020204" pitchFamily="34" charset="0"/>
                <a:cs typeface="Arial" panose="020B0604020202020204" pitchFamily="34" charset="0"/>
              </a:rPr>
              <a:t>	Dependent Variables:</a:t>
            </a:r>
            <a:endParaRPr lang="en-US" sz="3600" b="1" dirty="0">
              <a:solidFill>
                <a:srgbClr val="3C4043"/>
              </a:solidFill>
              <a:latin typeface="Arial" panose="020B0604020202020204" pitchFamily="34" charset="0"/>
              <a:cs typeface="Arial" panose="020B0604020202020204" pitchFamily="34" charset="0"/>
            </a:endParaRPr>
          </a:p>
          <a:p>
            <a:pPr algn="l" fontAlgn="base"/>
            <a:r>
              <a:rPr lang="en-US" sz="3600" b="1" i="0" dirty="0">
                <a:solidFill>
                  <a:srgbClr val="3C4043"/>
                </a:solidFill>
                <a:effectLst/>
                <a:latin typeface="Arial" panose="020B0604020202020204" pitchFamily="34" charset="0"/>
                <a:cs typeface="Arial" panose="020B0604020202020204" pitchFamily="34" charset="0"/>
              </a:rPr>
              <a:t>1.AdoptionLikelihood </a:t>
            </a:r>
            <a:r>
              <a:rPr lang="en-US" sz="3600" i="0" dirty="0">
                <a:solidFill>
                  <a:srgbClr val="3C4043"/>
                </a:solidFill>
                <a:effectLst/>
                <a:latin typeface="Arial" panose="020B0604020202020204" pitchFamily="34" charset="0"/>
                <a:cs typeface="Arial" panose="020B0604020202020204" pitchFamily="34" charset="0"/>
              </a:rPr>
              <a:t>(I/R)</a:t>
            </a:r>
          </a:p>
          <a:p>
            <a:pPr>
              <a:lnSpc>
                <a:spcPts val="4600"/>
              </a:lnSpc>
              <a:spcAft>
                <a:spcPts val="1200"/>
              </a:spcAft>
              <a:defRPr/>
            </a:pPr>
            <a:endParaRPr lang="en-US" sz="6000" b="1" dirty="0">
              <a:solidFill>
                <a:srgbClr val="941100"/>
              </a:solidFill>
              <a:latin typeface="Arial" panose="020B0604020202020204" pitchFamily="34" charset="0"/>
              <a:cs typeface="Arial" panose="020B0604020202020204" pitchFamily="34" charset="0"/>
            </a:endParaRPr>
          </a:p>
        </p:txBody>
      </p:sp>
      <p:sp>
        <p:nvSpPr>
          <p:cNvPr id="8" name="TextBox 3080">
            <a:extLst>
              <a:ext uri="{FF2B5EF4-FFF2-40B4-BE49-F238E27FC236}">
                <a16:creationId xmlns:a16="http://schemas.microsoft.com/office/drawing/2014/main" id="{8B1ABF5C-6A49-C1D5-B381-A120D5B984E1}"/>
              </a:ext>
            </a:extLst>
          </p:cNvPr>
          <p:cNvSpPr txBox="1"/>
          <p:nvPr/>
        </p:nvSpPr>
        <p:spPr>
          <a:xfrm>
            <a:off x="10521962" y="14497452"/>
            <a:ext cx="9784080" cy="10038646"/>
          </a:xfrm>
          <a:prstGeom prst="rect">
            <a:avLst/>
          </a:prstGeom>
          <a:solidFill>
            <a:schemeClr val="bg1">
              <a:alpha val="63000"/>
            </a:schemeClr>
          </a:solidFill>
          <a:effectLst/>
        </p:spPr>
        <p:txBody>
          <a:bodyPr wrap="square">
            <a:spAutoFit/>
          </a:bodyPr>
          <a:lstStyle/>
          <a:p>
            <a:pPr>
              <a:lnSpc>
                <a:spcPts val="4600"/>
              </a:lnSpc>
              <a:spcAft>
                <a:spcPts val="1200"/>
              </a:spcAft>
              <a:defRPr/>
            </a:pPr>
            <a:r>
              <a:rPr lang="en-US" sz="6000" b="1" dirty="0">
                <a:solidFill>
                  <a:srgbClr val="941100"/>
                </a:solidFill>
                <a:latin typeface="Arial" panose="020B0604020202020204" pitchFamily="34" charset="0"/>
                <a:cs typeface="Arial" panose="020B0604020202020204" pitchFamily="34" charset="0"/>
              </a:rPr>
              <a:t>Data Analysis</a:t>
            </a:r>
          </a:p>
          <a:p>
            <a:pPr>
              <a:spcAft>
                <a:spcPts val="1200"/>
              </a:spcAft>
              <a:defRPr/>
            </a:pPr>
            <a:r>
              <a:rPr lang="en-US" sz="3600" dirty="0">
                <a:solidFill>
                  <a:schemeClr val="bg2">
                    <a:lumMod val="50000"/>
                  </a:schemeClr>
                </a:solidFill>
                <a:latin typeface="Arial" charset="0"/>
                <a:ea typeface="Arial" charset="0"/>
                <a:cs typeface="Arial" charset="0"/>
              </a:rPr>
              <a:t>	</a:t>
            </a:r>
            <a:r>
              <a:rPr lang="en-US" sz="3600" dirty="0">
                <a:latin typeface="Arial" charset="0"/>
                <a:ea typeface="Arial" charset="0"/>
                <a:cs typeface="Arial" charset="0"/>
              </a:rPr>
              <a:t>Using a phi-k correlation matrix I found out that the most strongly correlated features with the likeliness of being adopted are:</a:t>
            </a:r>
          </a:p>
          <a:p>
            <a:pPr marL="571500" indent="-571500">
              <a:spcAft>
                <a:spcPts val="1200"/>
              </a:spcAft>
              <a:buFont typeface="Arial" panose="020B0604020202020204" pitchFamily="34" charset="0"/>
              <a:buChar char="•"/>
              <a:defRPr/>
            </a:pPr>
            <a:r>
              <a:rPr lang="en-US" sz="3600" b="1" dirty="0">
                <a:latin typeface="Arial" panose="020B0604020202020204" pitchFamily="34" charset="0"/>
                <a:cs typeface="Arial" panose="020B0604020202020204" pitchFamily="34" charset="0"/>
              </a:rPr>
              <a:t>Vaccinated</a:t>
            </a:r>
            <a:r>
              <a:rPr lang="en-US" sz="3600" dirty="0">
                <a:latin typeface="Arial" panose="020B0604020202020204" pitchFamily="34" charset="0"/>
                <a:cs typeface="Arial" panose="020B0604020202020204" pitchFamily="34" charset="0"/>
              </a:rPr>
              <a:t>: </a:t>
            </a:r>
            <a:r>
              <a:rPr lang="en-US" sz="3600" b="0" i="0" dirty="0">
                <a:effectLst/>
                <a:highlight>
                  <a:srgbClr val="FFFFFF"/>
                </a:highlight>
                <a:latin typeface="Arial" panose="020B0604020202020204" pitchFamily="34" charset="0"/>
                <a:cs typeface="Arial" panose="020B0604020202020204" pitchFamily="34" charset="0"/>
              </a:rPr>
              <a:t>Vaccination status of the pet (0 - Not vaccinated, 1 - Vaccinated).</a:t>
            </a:r>
            <a:endParaRPr lang="en-US" sz="3600" dirty="0">
              <a:latin typeface="Arial" panose="020B0604020202020204" pitchFamily="34" charset="0"/>
              <a:cs typeface="Arial" panose="020B0604020202020204" pitchFamily="34" charset="0"/>
            </a:endParaRPr>
          </a:p>
          <a:p>
            <a:pPr marL="571500" indent="-571500">
              <a:spcAft>
                <a:spcPts val="1200"/>
              </a:spcAft>
              <a:buFont typeface="Arial" panose="020B0604020202020204" pitchFamily="34" charset="0"/>
              <a:buChar char="•"/>
              <a:defRPr/>
            </a:pPr>
            <a:r>
              <a:rPr lang="en-US" sz="3600" b="1" dirty="0" err="1">
                <a:latin typeface="Arial" panose="020B0604020202020204" pitchFamily="34" charset="0"/>
                <a:cs typeface="Arial" panose="020B0604020202020204" pitchFamily="34" charset="0"/>
              </a:rPr>
              <a:t>HealthCondition</a:t>
            </a:r>
            <a:r>
              <a:rPr lang="en-US" sz="3600" dirty="0">
                <a:latin typeface="Arial" panose="020B0604020202020204" pitchFamily="34" charset="0"/>
                <a:cs typeface="Arial" panose="020B0604020202020204" pitchFamily="34" charset="0"/>
              </a:rPr>
              <a:t>: </a:t>
            </a:r>
            <a:r>
              <a:rPr lang="en-US" sz="3600" b="0" i="0" dirty="0">
                <a:effectLst/>
                <a:highlight>
                  <a:srgbClr val="FFFFFF"/>
                </a:highlight>
                <a:latin typeface="Arial" panose="020B0604020202020204" pitchFamily="34" charset="0"/>
                <a:cs typeface="Arial" panose="020B0604020202020204" pitchFamily="34" charset="0"/>
              </a:rPr>
              <a:t>Health condition of the pet (0 - Healthy, 1 - Medical condition).</a:t>
            </a:r>
            <a:endParaRPr lang="en-US" sz="3600" dirty="0">
              <a:latin typeface="Arial" panose="020B0604020202020204" pitchFamily="34" charset="0"/>
              <a:cs typeface="Arial" panose="020B0604020202020204" pitchFamily="34" charset="0"/>
            </a:endParaRPr>
          </a:p>
          <a:p>
            <a:pPr marL="571500" indent="-571500">
              <a:spcAft>
                <a:spcPts val="1200"/>
              </a:spcAft>
              <a:buFont typeface="Arial" panose="020B0604020202020204" pitchFamily="34" charset="0"/>
              <a:buChar char="•"/>
              <a:defRPr/>
            </a:pPr>
            <a:r>
              <a:rPr lang="en-US" sz="3600" b="1" dirty="0" err="1">
                <a:latin typeface="Arial" panose="020B0604020202020204" pitchFamily="34" charset="0"/>
                <a:cs typeface="Arial" panose="020B0604020202020204" pitchFamily="34" charset="0"/>
              </a:rPr>
              <a:t>AgeMonths</a:t>
            </a:r>
            <a:r>
              <a:rPr lang="en-US" sz="3600" dirty="0">
                <a:latin typeface="Arial" panose="020B0604020202020204" pitchFamily="34" charset="0"/>
                <a:cs typeface="Arial" panose="020B0604020202020204" pitchFamily="34" charset="0"/>
              </a:rPr>
              <a:t>: </a:t>
            </a:r>
            <a:r>
              <a:rPr lang="en-US" sz="3600" b="0" i="0" dirty="0">
                <a:effectLst/>
                <a:highlight>
                  <a:srgbClr val="FFFFFF"/>
                </a:highlight>
                <a:latin typeface="Arial" panose="020B0604020202020204" pitchFamily="34" charset="0"/>
                <a:cs typeface="Arial" panose="020B0604020202020204" pitchFamily="34" charset="0"/>
              </a:rPr>
              <a:t>Age of the pet in months.</a:t>
            </a:r>
          </a:p>
          <a:p>
            <a:pPr>
              <a:spcAft>
                <a:spcPts val="1200"/>
              </a:spcAft>
              <a:defRPr/>
            </a:pPr>
            <a:r>
              <a:rPr lang="en-US" sz="3600" dirty="0">
                <a:latin typeface="Arial" panose="020B0604020202020204" pitchFamily="34" charset="0"/>
                <a:cs typeface="Arial" panose="020B0604020202020204" pitchFamily="34" charset="0"/>
              </a:rPr>
              <a:t>0 to 0.1: Little to no association</a:t>
            </a:r>
          </a:p>
          <a:p>
            <a:pPr>
              <a:spcAft>
                <a:spcPts val="1200"/>
              </a:spcAft>
              <a:defRPr/>
            </a:pPr>
            <a:r>
              <a:rPr lang="en-US" sz="3600" dirty="0">
                <a:latin typeface="Arial" panose="020B0604020202020204" pitchFamily="34" charset="0"/>
                <a:cs typeface="Arial" panose="020B0604020202020204" pitchFamily="34" charset="0"/>
              </a:rPr>
              <a:t>0.1 to 0.3: Weak association</a:t>
            </a:r>
          </a:p>
          <a:p>
            <a:pPr>
              <a:spcAft>
                <a:spcPts val="1200"/>
              </a:spcAft>
              <a:defRPr/>
            </a:pPr>
            <a:r>
              <a:rPr lang="en-US" sz="3600" dirty="0">
                <a:latin typeface="Arial" panose="020B0604020202020204" pitchFamily="34" charset="0"/>
                <a:cs typeface="Arial" panose="020B0604020202020204" pitchFamily="34" charset="0"/>
              </a:rPr>
              <a:t>0.3 to 0.5: Moderate association</a:t>
            </a:r>
          </a:p>
          <a:p>
            <a:pPr>
              <a:spcAft>
                <a:spcPts val="1200"/>
              </a:spcAft>
              <a:defRPr/>
            </a:pPr>
            <a:r>
              <a:rPr lang="en-US" sz="3600" dirty="0">
                <a:latin typeface="Arial" panose="020B0604020202020204" pitchFamily="34" charset="0"/>
                <a:cs typeface="Arial" panose="020B0604020202020204" pitchFamily="34" charset="0"/>
              </a:rPr>
              <a:t>0.5 to 0.7: Strong association</a:t>
            </a:r>
          </a:p>
          <a:p>
            <a:pPr>
              <a:spcAft>
                <a:spcPts val="1200"/>
              </a:spcAft>
              <a:defRPr/>
            </a:pPr>
            <a:r>
              <a:rPr lang="en-US" sz="3600" dirty="0">
                <a:latin typeface="Arial" panose="020B0604020202020204" pitchFamily="34" charset="0"/>
                <a:cs typeface="Arial" panose="020B0604020202020204" pitchFamily="34" charset="0"/>
              </a:rPr>
              <a:t>0.7 to 1.0: Very strong association</a:t>
            </a:r>
          </a:p>
          <a:p>
            <a:pPr>
              <a:spcAft>
                <a:spcPts val="1800"/>
              </a:spcAft>
              <a:defRPr/>
            </a:pPr>
            <a:r>
              <a:rPr lang="en-US" sz="4000" b="1" dirty="0">
                <a:solidFill>
                  <a:srgbClr val="941100"/>
                </a:solidFill>
                <a:latin typeface="Arial" panose="020B0604020202020204" pitchFamily="34" charset="0"/>
                <a:cs typeface="Arial" panose="020B0604020202020204" pitchFamily="34" charset="0"/>
              </a:rPr>
              <a:t>Graph:</a:t>
            </a:r>
          </a:p>
        </p:txBody>
      </p:sp>
      <p:pic>
        <p:nvPicPr>
          <p:cNvPr id="1032" name="Picture 8" descr="No description has been provided for this image">
            <a:extLst>
              <a:ext uri="{FF2B5EF4-FFF2-40B4-BE49-F238E27FC236}">
                <a16:creationId xmlns:a16="http://schemas.microsoft.com/office/drawing/2014/main" id="{0A55AC6A-0932-BDA0-F326-7003BC82EBF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70589" y="24752296"/>
            <a:ext cx="8886825" cy="7515225"/>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ine 20">
            <a:extLst>
              <a:ext uri="{FF2B5EF4-FFF2-40B4-BE49-F238E27FC236}">
                <a16:creationId xmlns:a16="http://schemas.microsoft.com/office/drawing/2014/main" id="{199833B6-906F-1186-49BE-B82AAD40EF1B}"/>
              </a:ext>
            </a:extLst>
          </p:cNvPr>
          <p:cNvPicPr>
            <a:picLocks noChangeAspect="1"/>
          </p:cNvPicPr>
          <p:nvPr/>
        </p:nvPicPr>
        <p:blipFill>
          <a:blip r:embed="rId10"/>
          <a:stretch>
            <a:fillRect/>
          </a:stretch>
        </p:blipFill>
        <p:spPr>
          <a:xfrm>
            <a:off x="20819588" y="19984341"/>
            <a:ext cx="11269240" cy="5669756"/>
          </a:xfrm>
          <a:prstGeom prst="rect">
            <a:avLst/>
          </a:prstGeom>
        </p:spPr>
      </p:pic>
      <p:cxnSp>
        <p:nvCxnSpPr>
          <p:cNvPr id="24" name="Conector drept 23">
            <a:extLst>
              <a:ext uri="{FF2B5EF4-FFF2-40B4-BE49-F238E27FC236}">
                <a16:creationId xmlns:a16="http://schemas.microsoft.com/office/drawing/2014/main" id="{91D63BBB-22FF-2706-DE21-AE5B2490B540}"/>
              </a:ext>
            </a:extLst>
          </p:cNvPr>
          <p:cNvCxnSpPr>
            <a:cxnSpLocks/>
          </p:cNvCxnSpPr>
          <p:nvPr/>
        </p:nvCxnSpPr>
        <p:spPr>
          <a:xfrm>
            <a:off x="20670884" y="22639484"/>
            <a:ext cx="1126924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5" name="Conector drept 24">
            <a:extLst>
              <a:ext uri="{FF2B5EF4-FFF2-40B4-BE49-F238E27FC236}">
                <a16:creationId xmlns:a16="http://schemas.microsoft.com/office/drawing/2014/main" id="{E2BA34B9-0895-B5B3-A01C-EB0A4E706D7A}"/>
              </a:ext>
            </a:extLst>
          </p:cNvPr>
          <p:cNvCxnSpPr>
            <a:cxnSpLocks/>
          </p:cNvCxnSpPr>
          <p:nvPr/>
        </p:nvCxnSpPr>
        <p:spPr>
          <a:xfrm>
            <a:off x="20670884" y="23969474"/>
            <a:ext cx="11269240" cy="0"/>
          </a:xfrm>
          <a:prstGeom prst="line">
            <a:avLst/>
          </a:prstGeom>
        </p:spPr>
        <p:style>
          <a:lnRef idx="1">
            <a:schemeClr val="accent2"/>
          </a:lnRef>
          <a:fillRef idx="0">
            <a:schemeClr val="accent2"/>
          </a:fillRef>
          <a:effectRef idx="0">
            <a:schemeClr val="accent2"/>
          </a:effectRef>
          <a:fontRef idx="minor">
            <a:schemeClr val="tx1"/>
          </a:fontRef>
        </p:style>
      </p:cxnSp>
      <p:sp>
        <p:nvSpPr>
          <p:cNvPr id="26" name="CasetăText 25">
            <a:extLst>
              <a:ext uri="{FF2B5EF4-FFF2-40B4-BE49-F238E27FC236}">
                <a16:creationId xmlns:a16="http://schemas.microsoft.com/office/drawing/2014/main" id="{6B88E76C-67F4-3C5A-DE4F-6A5999A775F7}"/>
              </a:ext>
            </a:extLst>
          </p:cNvPr>
          <p:cNvSpPr txBox="1"/>
          <p:nvPr/>
        </p:nvSpPr>
        <p:spPr>
          <a:xfrm>
            <a:off x="21270202" y="26755582"/>
            <a:ext cx="10303095" cy="1754326"/>
          </a:xfrm>
          <a:prstGeom prst="rect">
            <a:avLst/>
          </a:prstGeom>
          <a:noFill/>
        </p:spPr>
        <p:txBody>
          <a:bodyPr wrap="square" rtlCol="0">
            <a:spAutoFit/>
          </a:bodyPr>
          <a:lstStyle/>
          <a:p>
            <a:r>
              <a:rPr lang="en-US" dirty="0"/>
              <a:t>	</a:t>
            </a:r>
            <a:r>
              <a:rPr lang="en-US" sz="3600" dirty="0">
                <a:latin typeface="Arial" panose="020B0604020202020204" pitchFamily="34" charset="0"/>
                <a:cs typeface="Arial" panose="020B0604020202020204" pitchFamily="34" charset="0"/>
              </a:rPr>
              <a:t>Both the Random Forest and Tuned Bagging Classifier seemed to perform better based on F1, but were overfitting the data.</a:t>
            </a:r>
            <a:endParaRPr lang="en-US" dirty="0"/>
          </a:p>
        </p:txBody>
      </p:sp>
      <p:pic>
        <p:nvPicPr>
          <p:cNvPr id="1043" name="Picture 19" descr="No description has been provided for this image">
            <a:extLst>
              <a:ext uri="{FF2B5EF4-FFF2-40B4-BE49-F238E27FC236}">
                <a16:creationId xmlns:a16="http://schemas.microsoft.com/office/drawing/2014/main" id="{FB1CAD98-FC0F-4999-DC15-C8AF8257513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643580" y="9775333"/>
            <a:ext cx="10802564" cy="8284259"/>
          </a:xfrm>
          <a:prstGeom prst="rect">
            <a:avLst/>
          </a:prstGeom>
          <a:noFill/>
          <a:extLst>
            <a:ext uri="{909E8E84-426E-40DD-AFC4-6F175D3DCCD1}">
              <a14:hiddenFill xmlns:a14="http://schemas.microsoft.com/office/drawing/2010/main">
                <a:solidFill>
                  <a:srgbClr val="FFFFFF"/>
                </a:solidFill>
              </a14:hiddenFill>
            </a:ext>
          </a:extLst>
        </p:spPr>
      </p:pic>
      <p:sp>
        <p:nvSpPr>
          <p:cNvPr id="27" name="CasetăText 26">
            <a:extLst>
              <a:ext uri="{FF2B5EF4-FFF2-40B4-BE49-F238E27FC236}">
                <a16:creationId xmlns:a16="http://schemas.microsoft.com/office/drawing/2014/main" id="{56576661-E02A-F53D-D459-C94AC83B8032}"/>
              </a:ext>
            </a:extLst>
          </p:cNvPr>
          <p:cNvSpPr txBox="1"/>
          <p:nvPr/>
        </p:nvSpPr>
        <p:spPr>
          <a:xfrm>
            <a:off x="32995735" y="18213259"/>
            <a:ext cx="9959070" cy="646331"/>
          </a:xfrm>
          <a:prstGeom prst="rect">
            <a:avLst/>
          </a:prstGeom>
          <a:noFill/>
        </p:spPr>
        <p:txBody>
          <a:bodyPr wrap="square" rtlCol="0">
            <a:spAutoFit/>
          </a:bodyPr>
          <a:lstStyle/>
          <a:p>
            <a:pPr>
              <a:defRPr/>
            </a:pPr>
            <a:r>
              <a:rPr lang="en-US" sz="3600" b="1" dirty="0">
                <a:solidFill>
                  <a:srgbClr val="941100"/>
                </a:solidFill>
                <a:latin typeface="Arial" panose="020B0604020202020204" pitchFamily="34" charset="0"/>
                <a:cs typeface="Arial" panose="020B0604020202020204" pitchFamily="34" charset="0"/>
              </a:rPr>
              <a:t>Features Importance:</a:t>
            </a:r>
          </a:p>
        </p:txBody>
      </p:sp>
      <p:pic>
        <p:nvPicPr>
          <p:cNvPr id="29" name="Imagine 28">
            <a:extLst>
              <a:ext uri="{FF2B5EF4-FFF2-40B4-BE49-F238E27FC236}">
                <a16:creationId xmlns:a16="http://schemas.microsoft.com/office/drawing/2014/main" id="{6EC8A694-6526-EF3A-6055-FAFCD55AFB2D}"/>
              </a:ext>
            </a:extLst>
          </p:cNvPr>
          <p:cNvPicPr>
            <a:picLocks noChangeAspect="1"/>
          </p:cNvPicPr>
          <p:nvPr/>
        </p:nvPicPr>
        <p:blipFill>
          <a:blip r:embed="rId12"/>
          <a:stretch>
            <a:fillRect/>
          </a:stretch>
        </p:blipFill>
        <p:spPr>
          <a:xfrm>
            <a:off x="32995735" y="19050411"/>
            <a:ext cx="9959070" cy="5781675"/>
          </a:xfrm>
          <a:prstGeom prst="rect">
            <a:avLst/>
          </a:prstGeom>
        </p:spPr>
      </p:pic>
      <p:cxnSp>
        <p:nvCxnSpPr>
          <p:cNvPr id="30" name="Straight Connector 3091">
            <a:extLst>
              <a:ext uri="{FF2B5EF4-FFF2-40B4-BE49-F238E27FC236}">
                <a16:creationId xmlns:a16="http://schemas.microsoft.com/office/drawing/2014/main" id="{173CEA80-9905-6B95-CA97-0C4FA12F65B3}"/>
              </a:ext>
            </a:extLst>
          </p:cNvPr>
          <p:cNvCxnSpPr>
            <a:cxnSpLocks/>
          </p:cNvCxnSpPr>
          <p:nvPr/>
        </p:nvCxnSpPr>
        <p:spPr bwMode="auto">
          <a:xfrm>
            <a:off x="21063592" y="16466736"/>
            <a:ext cx="10509705" cy="0"/>
          </a:xfrm>
          <a:prstGeom prst="line">
            <a:avLst/>
          </a:prstGeom>
          <a:noFill/>
          <a:ln w="25400" cap="sq" cmpd="sng" algn="ctr">
            <a:solidFill>
              <a:srgbClr val="941100"/>
            </a:solidFill>
            <a:prstDash val="dash"/>
            <a:round/>
            <a:headEnd type="oval" w="med" len="med"/>
            <a:tailEnd type="oval" w="med" len="med"/>
          </a:ln>
          <a:effectLst/>
        </p:spPr>
      </p:cxnSp>
    </p:spTree>
    <p:extLst>
      <p:ext uri="{BB962C8B-B14F-4D97-AF65-F5344CB8AC3E}">
        <p14:creationId xmlns:p14="http://schemas.microsoft.com/office/powerpoint/2010/main" val="31203567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1_Classic 3 Column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2612</TotalTime>
  <Words>541</Words>
  <Application>Microsoft Office PowerPoint</Application>
  <PresentationFormat>Particularizare</PresentationFormat>
  <Paragraphs>62</Paragraphs>
  <Slides>1</Slides>
  <Notes>1</Notes>
  <HiddenSlides>0</HiddenSlides>
  <MMClips>0</MMClips>
  <ScaleCrop>false</ScaleCrop>
  <HeadingPairs>
    <vt:vector size="6" baseType="variant">
      <vt:variant>
        <vt:lpstr>Fonturi utilizate</vt:lpstr>
      </vt:variant>
      <vt:variant>
        <vt:i4>7</vt:i4>
      </vt:variant>
      <vt:variant>
        <vt:lpstr>Temă</vt:lpstr>
      </vt:variant>
      <vt:variant>
        <vt:i4>2</vt:i4>
      </vt:variant>
      <vt:variant>
        <vt:lpstr>Titluri diapozitive</vt:lpstr>
      </vt:variant>
      <vt:variant>
        <vt:i4>1</vt:i4>
      </vt:variant>
    </vt:vector>
  </HeadingPairs>
  <TitlesOfParts>
    <vt:vector size="10" baseType="lpstr">
      <vt:lpstr>Arial</vt:lpstr>
      <vt:lpstr>Arial Black</vt:lpstr>
      <vt:lpstr>Calibri</vt:lpstr>
      <vt:lpstr>Calibri Light</vt:lpstr>
      <vt:lpstr>inherit</vt:lpstr>
      <vt:lpstr>Times New Roman</vt:lpstr>
      <vt:lpstr>Trebuchet MS</vt:lpstr>
      <vt:lpstr>Office Theme</vt:lpstr>
      <vt:lpstr>1_Classic 3 Columns</vt:lpstr>
      <vt:lpstr>Prezentare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Mahtab Hamid</dc:creator>
  <cp:lastModifiedBy>Tudor Dolineaschi</cp:lastModifiedBy>
  <cp:revision>7</cp:revision>
  <dcterms:created xsi:type="dcterms:W3CDTF">2023-02-24T06:52:06Z</dcterms:created>
  <dcterms:modified xsi:type="dcterms:W3CDTF">2024-06-28T20:04:30Z</dcterms:modified>
</cp:coreProperties>
</file>